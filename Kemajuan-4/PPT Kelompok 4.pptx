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grandir Heavy" charset="1" panose="00000900000000000000"/>
      <p:regular r:id="rId17"/>
    </p:embeddedFont>
    <p:embeddedFont>
      <p:font typeface="Agrandir Medium" charset="1" panose="00000600000000000000"/>
      <p:regular r:id="rId18"/>
    </p:embeddedFont>
    <p:embeddedFont>
      <p:font typeface="Agrandir Bold" charset="1" panose="00000800000000000000"/>
      <p:regular r:id="rId19"/>
    </p:embeddedFont>
    <p:embeddedFont>
      <p:font typeface="Agrandir"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2274024" y="6297645"/>
            <a:ext cx="5012156" cy="50121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5" id="5"/>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6" id="6"/>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5781922" y="-2506078"/>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11" id="11"/>
          <p:cNvSpPr txBox="true"/>
          <p:nvPr/>
        </p:nvSpPr>
        <p:spPr>
          <a:xfrm rot="0">
            <a:off x="232054" y="1600523"/>
            <a:ext cx="17174690" cy="3240191"/>
          </a:xfrm>
          <a:prstGeom prst="rect">
            <a:avLst/>
          </a:prstGeom>
        </p:spPr>
        <p:txBody>
          <a:bodyPr anchor="t" rtlCol="false" tIns="0" lIns="0" bIns="0" rIns="0">
            <a:spAutoFit/>
          </a:bodyPr>
          <a:lstStyle/>
          <a:p>
            <a:pPr algn="l">
              <a:lnSpc>
                <a:spcPts val="5860"/>
              </a:lnSpc>
            </a:pPr>
            <a:r>
              <a:rPr lang="en-US" b="true" sz="6895">
                <a:solidFill>
                  <a:srgbClr val="163966"/>
                </a:solidFill>
                <a:latin typeface="Agrandir Heavy"/>
                <a:ea typeface="Agrandir Heavy"/>
                <a:cs typeface="Agrandir Heavy"/>
                <a:sym typeface="Agrandir Heavy"/>
              </a:rPr>
              <a:t>PERANCANGAN DAN    IMPLEMENTASI SISTEM BASIS DATA MANAJEMEN INVENTORI LABORATORIUM</a:t>
            </a:r>
          </a:p>
        </p:txBody>
      </p:sp>
      <p:sp>
        <p:nvSpPr>
          <p:cNvPr name="TextBox 12" id="12"/>
          <p:cNvSpPr txBox="true"/>
          <p:nvPr/>
        </p:nvSpPr>
        <p:spPr>
          <a:xfrm rot="0">
            <a:off x="5944616" y="5217146"/>
            <a:ext cx="5749566" cy="2343998"/>
          </a:xfrm>
          <a:prstGeom prst="rect">
            <a:avLst/>
          </a:prstGeom>
        </p:spPr>
        <p:txBody>
          <a:bodyPr anchor="t" rtlCol="false" tIns="0" lIns="0" bIns="0" rIns="0">
            <a:spAutoFit/>
          </a:bodyPr>
          <a:lstStyle/>
          <a:p>
            <a:pPr algn="just">
              <a:lnSpc>
                <a:spcPts val="3628"/>
              </a:lnSpc>
            </a:pPr>
            <a:r>
              <a:rPr lang="en-US" sz="2591" b="true">
                <a:solidFill>
                  <a:srgbClr val="163966"/>
                </a:solidFill>
                <a:latin typeface="Agrandir Medium"/>
                <a:ea typeface="Agrandir Medium"/>
                <a:cs typeface="Agrandir Medium"/>
                <a:sym typeface="Agrandir Medium"/>
              </a:rPr>
              <a:t>Aldi Saputra                :(</a:t>
            </a:r>
            <a:r>
              <a:rPr lang="en-US" sz="2591" b="true">
                <a:solidFill>
                  <a:srgbClr val="163966"/>
                </a:solidFill>
                <a:latin typeface="Agrandir Medium"/>
                <a:ea typeface="Agrandir Medium"/>
                <a:cs typeface="Agrandir Medium"/>
                <a:sym typeface="Agrandir Medium"/>
              </a:rPr>
              <a:t>2501020140)</a:t>
            </a:r>
          </a:p>
          <a:p>
            <a:pPr algn="just">
              <a:lnSpc>
                <a:spcPts val="3628"/>
              </a:lnSpc>
            </a:pPr>
            <a:r>
              <a:rPr lang="en-US" sz="2591" b="true">
                <a:solidFill>
                  <a:srgbClr val="163966"/>
                </a:solidFill>
                <a:latin typeface="Agrandir Medium"/>
                <a:ea typeface="Agrandir Medium"/>
                <a:cs typeface="Agrandir Medium"/>
                <a:sym typeface="Agrandir Medium"/>
              </a:rPr>
              <a:t>Farel                               :(2501020134)</a:t>
            </a:r>
          </a:p>
          <a:p>
            <a:pPr algn="just">
              <a:lnSpc>
                <a:spcPts val="3628"/>
              </a:lnSpc>
            </a:pPr>
            <a:r>
              <a:rPr lang="en-US" sz="2591" b="true">
                <a:solidFill>
                  <a:srgbClr val="163966"/>
                </a:solidFill>
                <a:latin typeface="Agrandir Medium"/>
                <a:ea typeface="Agrandir Medium"/>
                <a:cs typeface="Agrandir Medium"/>
                <a:sym typeface="Agrandir Medium"/>
              </a:rPr>
              <a:t>Prayoga Kie                 :(2501020130)</a:t>
            </a:r>
          </a:p>
          <a:p>
            <a:pPr algn="just">
              <a:lnSpc>
                <a:spcPts val="3628"/>
              </a:lnSpc>
            </a:pPr>
            <a:r>
              <a:rPr lang="en-US" sz="2591" b="true">
                <a:solidFill>
                  <a:srgbClr val="163966"/>
                </a:solidFill>
                <a:latin typeface="Agrandir Medium"/>
                <a:ea typeface="Agrandir Medium"/>
                <a:cs typeface="Agrandir Medium"/>
                <a:sym typeface="Agrandir Medium"/>
              </a:rPr>
              <a:t>Egi Fahrezi Winanda :(2501020133)</a:t>
            </a:r>
          </a:p>
          <a:p>
            <a:pPr algn="just">
              <a:lnSpc>
                <a:spcPts val="3628"/>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11042789" y="548600"/>
            <a:ext cx="6452741" cy="7789949"/>
            <a:chOff x="0" y="0"/>
            <a:chExt cx="5760720" cy="6954520"/>
          </a:xfrm>
        </p:grpSpPr>
        <p:sp>
          <p:nvSpPr>
            <p:cNvPr name="Freeform 6" id="6"/>
            <p:cNvSpPr/>
            <p:nvPr/>
          </p:nvSpPr>
          <p:spPr>
            <a:xfrm flipH="false" flipV="false" rot="0">
              <a:off x="-149" y="0"/>
              <a:ext cx="5760935" cy="6955790"/>
            </a:xfrm>
            <a:custGeom>
              <a:avLst/>
              <a:gdLst/>
              <a:ahLst/>
              <a:cxnLst/>
              <a:rect r="r" b="b" t="t" l="l"/>
              <a:pathLst>
                <a:path h="6955790" w="5760935">
                  <a:moveTo>
                    <a:pt x="3965089" y="210820"/>
                  </a:moveTo>
                  <a:cubicBezTo>
                    <a:pt x="3619649" y="71120"/>
                    <a:pt x="3255159" y="0"/>
                    <a:pt x="2880509" y="0"/>
                  </a:cubicBezTo>
                  <a:cubicBezTo>
                    <a:pt x="2505859" y="0"/>
                    <a:pt x="2141369" y="71120"/>
                    <a:pt x="1795929" y="210820"/>
                  </a:cubicBezTo>
                  <a:cubicBezTo>
                    <a:pt x="1439059" y="355600"/>
                    <a:pt x="1117749" y="568960"/>
                    <a:pt x="843429" y="843280"/>
                  </a:cubicBezTo>
                  <a:cubicBezTo>
                    <a:pt x="307489" y="1380490"/>
                    <a:pt x="7769" y="2094230"/>
                    <a:pt x="149" y="2852420"/>
                  </a:cubicBezTo>
                  <a:cubicBezTo>
                    <a:pt x="-7471" y="3609340"/>
                    <a:pt x="277009" y="4328160"/>
                    <a:pt x="801519" y="4874260"/>
                  </a:cubicBezTo>
                  <a:lnTo>
                    <a:pt x="800249" y="4875530"/>
                  </a:lnTo>
                  <a:lnTo>
                    <a:pt x="2880509" y="6955790"/>
                  </a:lnTo>
                  <a:lnTo>
                    <a:pt x="4949339" y="4886960"/>
                  </a:lnTo>
                  <a:lnTo>
                    <a:pt x="4948069" y="4885690"/>
                  </a:lnTo>
                  <a:cubicBezTo>
                    <a:pt x="5477659" y="4339590"/>
                    <a:pt x="5765949" y="3620770"/>
                    <a:pt x="5760869" y="2860040"/>
                  </a:cubicBezTo>
                  <a:cubicBezTo>
                    <a:pt x="5755789" y="2098040"/>
                    <a:pt x="5456069" y="1383030"/>
                    <a:pt x="4917589" y="843280"/>
                  </a:cubicBezTo>
                  <a:cubicBezTo>
                    <a:pt x="4641999" y="568960"/>
                    <a:pt x="4321959" y="355600"/>
                    <a:pt x="3965089" y="210820"/>
                  </a:cubicBezTo>
                  <a:close/>
                </a:path>
              </a:pathLst>
            </a:custGeom>
            <a:solidFill>
              <a:srgbClr val="007184"/>
            </a:solidFill>
          </p:spPr>
        </p:sp>
        <p:sp>
          <p:nvSpPr>
            <p:cNvPr name="Freeform 7" id="7"/>
            <p:cNvSpPr/>
            <p:nvPr/>
          </p:nvSpPr>
          <p:spPr>
            <a:xfrm flipH="false" flipV="false" rot="0">
              <a:off x="263921" y="269214"/>
              <a:ext cx="5230339" cy="5207052"/>
            </a:xfrm>
            <a:custGeom>
              <a:avLst/>
              <a:gdLst/>
              <a:ahLst/>
              <a:cxnLst/>
              <a:rect r="r" b="b" t="t" l="l"/>
              <a:pathLst>
                <a:path h="5207052" w="5230339">
                  <a:moveTo>
                    <a:pt x="2615169" y="26"/>
                  </a:moveTo>
                  <a:cubicBezTo>
                    <a:pt x="1682254" y="-4146"/>
                    <a:pt x="818415" y="491164"/>
                    <a:pt x="350749" y="1298403"/>
                  </a:cubicBezTo>
                  <a:cubicBezTo>
                    <a:pt x="-116917" y="2105643"/>
                    <a:pt x="-116917" y="3101409"/>
                    <a:pt x="350749" y="3908649"/>
                  </a:cubicBezTo>
                  <a:cubicBezTo>
                    <a:pt x="818415" y="4715888"/>
                    <a:pt x="1682254" y="5211198"/>
                    <a:pt x="2615169" y="5207026"/>
                  </a:cubicBezTo>
                  <a:cubicBezTo>
                    <a:pt x="3548084" y="5211198"/>
                    <a:pt x="4411923" y="4715888"/>
                    <a:pt x="4879589" y="3908649"/>
                  </a:cubicBezTo>
                  <a:cubicBezTo>
                    <a:pt x="5347255" y="3101409"/>
                    <a:pt x="5347255" y="2105643"/>
                    <a:pt x="4879589" y="1298403"/>
                  </a:cubicBezTo>
                  <a:cubicBezTo>
                    <a:pt x="4411923" y="491164"/>
                    <a:pt x="3548084" y="-4146"/>
                    <a:pt x="2615169" y="26"/>
                  </a:cubicBezTo>
                  <a:close/>
                </a:path>
              </a:pathLst>
            </a:custGeom>
            <a:blipFill>
              <a:blip r:embed="rId7"/>
              <a:stretch>
                <a:fillRect l="-24801" t="0" r="-24801" b="0"/>
              </a:stretch>
            </a:blipFill>
          </p:spPr>
        </p:sp>
      </p:grpSp>
      <p:grpSp>
        <p:nvGrpSpPr>
          <p:cNvPr name="Group 8" id="8"/>
          <p:cNvGrpSpPr/>
          <p:nvPr/>
        </p:nvGrpSpPr>
        <p:grpSpPr>
          <a:xfrm rot="0">
            <a:off x="-3070322" y="7313188"/>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11" id="11"/>
          <p:cNvGrpSpPr/>
          <p:nvPr/>
        </p:nvGrpSpPr>
        <p:grpSpPr>
          <a:xfrm rot="0">
            <a:off x="16233274" y="-2976237"/>
            <a:ext cx="5012156" cy="50121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3" id="13"/>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14" id="14"/>
          <p:cNvSpPr txBox="true"/>
          <p:nvPr/>
        </p:nvSpPr>
        <p:spPr>
          <a:xfrm rot="0">
            <a:off x="2602260" y="1400498"/>
            <a:ext cx="5327861" cy="2175838"/>
          </a:xfrm>
          <a:prstGeom prst="rect">
            <a:avLst/>
          </a:prstGeom>
        </p:spPr>
        <p:txBody>
          <a:bodyPr anchor="t" rtlCol="false" tIns="0" lIns="0" bIns="0" rIns="0">
            <a:spAutoFit/>
          </a:bodyPr>
          <a:lstStyle/>
          <a:p>
            <a:pPr algn="l">
              <a:lnSpc>
                <a:spcPts val="7744"/>
              </a:lnSpc>
            </a:pPr>
            <a:r>
              <a:rPr lang="en-US" b="true" sz="6792">
                <a:solidFill>
                  <a:srgbClr val="005380"/>
                </a:solidFill>
                <a:latin typeface="Agrandir Bold"/>
                <a:ea typeface="Agrandir Bold"/>
                <a:cs typeface="Agrandir Bold"/>
                <a:sym typeface="Agrandir Bold"/>
              </a:rPr>
              <a:t>LATAR BELAKANG</a:t>
            </a:r>
          </a:p>
        </p:txBody>
      </p:sp>
      <p:sp>
        <p:nvSpPr>
          <p:cNvPr name="TextBox 15" id="15"/>
          <p:cNvSpPr txBox="true"/>
          <p:nvPr/>
        </p:nvSpPr>
        <p:spPr>
          <a:xfrm rot="0">
            <a:off x="1852323" y="3585860"/>
            <a:ext cx="8871426" cy="4673367"/>
          </a:xfrm>
          <a:prstGeom prst="rect">
            <a:avLst/>
          </a:prstGeom>
        </p:spPr>
        <p:txBody>
          <a:bodyPr anchor="t" rtlCol="false" tIns="0" lIns="0" bIns="0" rIns="0">
            <a:spAutoFit/>
          </a:bodyPr>
          <a:lstStyle/>
          <a:p>
            <a:pPr algn="just" marL="0" indent="0" lvl="0">
              <a:lnSpc>
                <a:spcPts val="3337"/>
              </a:lnSpc>
              <a:spcBef>
                <a:spcPct val="0"/>
              </a:spcBef>
            </a:pPr>
            <a:r>
              <a:rPr lang="en-US" sz="2384">
                <a:solidFill>
                  <a:srgbClr val="005380"/>
                </a:solidFill>
                <a:latin typeface="Agrandir"/>
                <a:ea typeface="Agrandir"/>
                <a:cs typeface="Agrandir"/>
                <a:sym typeface="Agrandir"/>
              </a:rPr>
              <a:t>  Laboratorium merupakan fasilitas penting yang digunakan untuk kegiatan praktikum dan penelitian. Namun, pengelolaan inventaris yang masih dilakukan secara manual sering menimbulkan berbagai masalah, seperti kesalahan pencatatan, data yang tidak konsisten, dan kesulitan dalam memantau proses peminjaman maupun pengembalian alat. Oleh karena itu, kami merancang Sistem Basis Data Manajemen Inventori Laboratorium menggunakan MariaDB/MySQL agar seluruh data dapat dikelola secara terpusat, lebih akurat, efisien, dan mendukung pengambilan keputusan dalam pengelolaan inventaris</a:t>
            </a:r>
          </a:p>
        </p:txBody>
      </p:sp>
      <p:sp>
        <p:nvSpPr>
          <p:cNvPr name="Freeform 16" id="16"/>
          <p:cNvSpPr/>
          <p:nvPr/>
        </p:nvSpPr>
        <p:spPr>
          <a:xfrm flipH="false" flipV="false" rot="10733209">
            <a:off x="1237747" y="1704356"/>
            <a:ext cx="1229153" cy="1235894"/>
          </a:xfrm>
          <a:custGeom>
            <a:avLst/>
            <a:gdLst/>
            <a:ahLst/>
            <a:cxnLst/>
            <a:rect r="r" b="b" t="t" l="l"/>
            <a:pathLst>
              <a:path h="1235894" w="1229153">
                <a:moveTo>
                  <a:pt x="0" y="0"/>
                </a:moveTo>
                <a:lnTo>
                  <a:pt x="1229152" y="0"/>
                </a:lnTo>
                <a:lnTo>
                  <a:pt x="1229152" y="1235894"/>
                </a:lnTo>
                <a:lnTo>
                  <a:pt x="0" y="12358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912051" y="2539297"/>
            <a:ext cx="13468390" cy="2604203"/>
            <a:chOff x="0" y="0"/>
            <a:chExt cx="1589514" cy="307343"/>
          </a:xfrm>
        </p:grpSpPr>
        <p:sp>
          <p:nvSpPr>
            <p:cNvPr name="Freeform 4" id="4"/>
            <p:cNvSpPr/>
            <p:nvPr/>
          </p:nvSpPr>
          <p:spPr>
            <a:xfrm flipH="false" flipV="false" rot="0">
              <a:off x="0" y="0"/>
              <a:ext cx="1589514" cy="307343"/>
            </a:xfrm>
            <a:custGeom>
              <a:avLst/>
              <a:gdLst/>
              <a:ahLst/>
              <a:cxnLst/>
              <a:rect r="r" b="b" t="t" l="l"/>
              <a:pathLst>
                <a:path h="307343" w="1589514">
                  <a:moveTo>
                    <a:pt x="93990" y="128861"/>
                  </a:moveTo>
                  <a:cubicBezTo>
                    <a:pt x="140232" y="139613"/>
                    <a:pt x="140326" y="168140"/>
                    <a:pt x="94343" y="178934"/>
                  </a:cubicBezTo>
                  <a:cubicBezTo>
                    <a:pt x="36531" y="192504"/>
                    <a:pt x="1904" y="209864"/>
                    <a:pt x="1904" y="228739"/>
                  </a:cubicBezTo>
                  <a:cubicBezTo>
                    <a:pt x="1904" y="272327"/>
                    <a:pt x="184510" y="307343"/>
                    <a:pt x="407479" y="307343"/>
                  </a:cubicBezTo>
                  <a:cubicBezTo>
                    <a:pt x="505599" y="307343"/>
                    <a:pt x="595407" y="300671"/>
                    <a:pt x="665548" y="289525"/>
                  </a:cubicBezTo>
                  <a:cubicBezTo>
                    <a:pt x="721502" y="280634"/>
                    <a:pt x="869930" y="280632"/>
                    <a:pt x="925885" y="289524"/>
                  </a:cubicBezTo>
                  <a:cubicBezTo>
                    <a:pt x="996026" y="300670"/>
                    <a:pt x="1085837" y="307343"/>
                    <a:pt x="1183979" y="307343"/>
                  </a:cubicBezTo>
                  <a:cubicBezTo>
                    <a:pt x="1406948" y="307343"/>
                    <a:pt x="1589514" y="272327"/>
                    <a:pt x="1589514" y="228739"/>
                  </a:cubicBezTo>
                  <a:cubicBezTo>
                    <a:pt x="1589514" y="209724"/>
                    <a:pt x="1553808" y="192246"/>
                    <a:pt x="1495021" y="178632"/>
                  </a:cubicBezTo>
                  <a:cubicBezTo>
                    <a:pt x="1448832" y="167936"/>
                    <a:pt x="1448832" y="139773"/>
                    <a:pt x="1494953" y="129066"/>
                  </a:cubicBezTo>
                  <a:cubicBezTo>
                    <a:pt x="1553783" y="115408"/>
                    <a:pt x="1589514" y="97831"/>
                    <a:pt x="1589514" y="78604"/>
                  </a:cubicBezTo>
                  <a:cubicBezTo>
                    <a:pt x="1589514" y="35393"/>
                    <a:pt x="1406948" y="0"/>
                    <a:pt x="1183979" y="0"/>
                  </a:cubicBezTo>
                  <a:cubicBezTo>
                    <a:pt x="1086682" y="0"/>
                    <a:pt x="997922" y="6526"/>
                    <a:pt x="928150" y="17448"/>
                  </a:cubicBezTo>
                  <a:cubicBezTo>
                    <a:pt x="871350" y="26340"/>
                    <a:pt x="717254" y="26240"/>
                    <a:pt x="660454" y="17349"/>
                  </a:cubicBezTo>
                  <a:cubicBezTo>
                    <a:pt x="591054" y="6486"/>
                    <a:pt x="502539" y="0"/>
                    <a:pt x="405536" y="0"/>
                  </a:cubicBezTo>
                  <a:cubicBezTo>
                    <a:pt x="182565" y="0"/>
                    <a:pt x="0" y="35393"/>
                    <a:pt x="0" y="78604"/>
                  </a:cubicBezTo>
                  <a:cubicBezTo>
                    <a:pt x="0" y="97734"/>
                    <a:pt x="35377" y="115233"/>
                    <a:pt x="93990" y="128861"/>
                  </a:cubicBezTo>
                  <a:close/>
                </a:path>
              </a:pathLst>
            </a:custGeom>
            <a:solidFill>
              <a:srgbClr val="005380"/>
            </a:solidFill>
          </p:spPr>
        </p:sp>
        <p:sp>
          <p:nvSpPr>
            <p:cNvPr name="TextBox 5" id="5"/>
            <p:cNvSpPr txBox="true"/>
            <p:nvPr/>
          </p:nvSpPr>
          <p:spPr>
            <a:xfrm>
              <a:off x="126439" y="-99377"/>
              <a:ext cx="1336637" cy="382273"/>
            </a:xfrm>
            <a:prstGeom prst="rect">
              <a:avLst/>
            </a:prstGeom>
          </p:spPr>
          <p:txBody>
            <a:bodyPr anchor="ctr" rtlCol="false" tIns="50800" lIns="50800" bIns="50800" rIns="50800"/>
            <a:lstStyle/>
            <a:p>
              <a:pPr algn="ctr">
                <a:lnSpc>
                  <a:spcPts val="3628"/>
                </a:lnSpc>
              </a:pPr>
            </a:p>
          </p:txBody>
        </p:sp>
      </p:grpSp>
      <p:grpSp>
        <p:nvGrpSpPr>
          <p:cNvPr name="Group 6" id="6"/>
          <p:cNvGrpSpPr/>
          <p:nvPr/>
        </p:nvGrpSpPr>
        <p:grpSpPr>
          <a:xfrm rot="0">
            <a:off x="-2506078" y="7236909"/>
            <a:ext cx="5012156" cy="50121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8" id="8"/>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9" id="9"/>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15781922" y="-2689853"/>
            <a:ext cx="5012156" cy="50121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3" id="13"/>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14" id="14"/>
          <p:cNvSpPr/>
          <p:nvPr/>
        </p:nvSpPr>
        <p:spPr>
          <a:xfrm flipH="false" flipV="false" rot="10733209">
            <a:off x="1237747" y="1704356"/>
            <a:ext cx="1229153" cy="1235894"/>
          </a:xfrm>
          <a:custGeom>
            <a:avLst/>
            <a:gdLst/>
            <a:ahLst/>
            <a:cxnLst/>
            <a:rect r="r" b="b" t="t" l="l"/>
            <a:pathLst>
              <a:path h="1235894" w="1229153">
                <a:moveTo>
                  <a:pt x="0" y="0"/>
                </a:moveTo>
                <a:lnTo>
                  <a:pt x="1229152" y="0"/>
                </a:lnTo>
                <a:lnTo>
                  <a:pt x="1229152" y="1235894"/>
                </a:lnTo>
                <a:lnTo>
                  <a:pt x="0" y="12358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3772082" y="1440500"/>
            <a:ext cx="9610208" cy="1194763"/>
          </a:xfrm>
          <a:prstGeom prst="rect">
            <a:avLst/>
          </a:prstGeom>
        </p:spPr>
        <p:txBody>
          <a:bodyPr anchor="t" rtlCol="false" tIns="0" lIns="0" bIns="0" rIns="0">
            <a:spAutoFit/>
          </a:bodyPr>
          <a:lstStyle/>
          <a:p>
            <a:pPr algn="l">
              <a:lnSpc>
                <a:spcPts val="7744"/>
              </a:lnSpc>
            </a:pPr>
            <a:r>
              <a:rPr lang="en-US" b="true" sz="6792">
                <a:solidFill>
                  <a:srgbClr val="005380"/>
                </a:solidFill>
                <a:latin typeface="Agrandir Bold"/>
                <a:ea typeface="Agrandir Bold"/>
                <a:cs typeface="Agrandir Bold"/>
                <a:sym typeface="Agrandir Bold"/>
              </a:rPr>
              <a:t>RUMUSAN MASALAH</a:t>
            </a:r>
          </a:p>
        </p:txBody>
      </p:sp>
      <p:sp>
        <p:nvSpPr>
          <p:cNvPr name="TextBox 16" id="16"/>
          <p:cNvSpPr txBox="true"/>
          <p:nvPr/>
        </p:nvSpPr>
        <p:spPr>
          <a:xfrm rot="0">
            <a:off x="2573142" y="2731340"/>
            <a:ext cx="12164871" cy="907025"/>
          </a:xfrm>
          <a:prstGeom prst="rect">
            <a:avLst/>
          </a:prstGeom>
        </p:spPr>
        <p:txBody>
          <a:bodyPr anchor="t" rtlCol="false" tIns="0" lIns="0" bIns="0" rIns="0">
            <a:spAutoFit/>
          </a:bodyPr>
          <a:lstStyle/>
          <a:p>
            <a:pPr algn="ctr">
              <a:lnSpc>
                <a:spcPts val="3355"/>
              </a:lnSpc>
            </a:pPr>
            <a:r>
              <a:rPr lang="en-US" sz="2396">
                <a:solidFill>
                  <a:srgbClr val="FFFFFF"/>
                </a:solidFill>
                <a:latin typeface="Agrandir"/>
                <a:ea typeface="Agrandir"/>
                <a:cs typeface="Agrandir"/>
                <a:sym typeface="Agrandir"/>
              </a:rPr>
              <a:t>Bagaimana merancang sistem basis data yang dapat mengelola inventaris laboratorium secara terstruktur dan terintegrasi?</a:t>
            </a:r>
          </a:p>
        </p:txBody>
      </p:sp>
      <p:grpSp>
        <p:nvGrpSpPr>
          <p:cNvPr name="Group 17" id="17"/>
          <p:cNvGrpSpPr/>
          <p:nvPr/>
        </p:nvGrpSpPr>
        <p:grpSpPr>
          <a:xfrm rot="0">
            <a:off x="2014794" y="5279467"/>
            <a:ext cx="13449727" cy="2765481"/>
            <a:chOff x="0" y="0"/>
            <a:chExt cx="1562716" cy="321320"/>
          </a:xfrm>
        </p:grpSpPr>
        <p:sp>
          <p:nvSpPr>
            <p:cNvPr name="Freeform 18" id="18"/>
            <p:cNvSpPr/>
            <p:nvPr/>
          </p:nvSpPr>
          <p:spPr>
            <a:xfrm flipH="false" flipV="false" rot="0">
              <a:off x="0" y="0"/>
              <a:ext cx="1562716" cy="321320"/>
            </a:xfrm>
            <a:custGeom>
              <a:avLst/>
              <a:gdLst/>
              <a:ahLst/>
              <a:cxnLst/>
              <a:rect r="r" b="b" t="t" l="l"/>
              <a:pathLst>
                <a:path h="321320" w="1562716">
                  <a:moveTo>
                    <a:pt x="92405" y="134721"/>
                  </a:moveTo>
                  <a:cubicBezTo>
                    <a:pt x="137868" y="145962"/>
                    <a:pt x="137960" y="175786"/>
                    <a:pt x="92753" y="187071"/>
                  </a:cubicBezTo>
                  <a:cubicBezTo>
                    <a:pt x="35915" y="201258"/>
                    <a:pt x="1872" y="219408"/>
                    <a:pt x="1872" y="239141"/>
                  </a:cubicBezTo>
                  <a:cubicBezTo>
                    <a:pt x="1872" y="284711"/>
                    <a:pt x="181400" y="321320"/>
                    <a:pt x="400609" y="321320"/>
                  </a:cubicBezTo>
                  <a:cubicBezTo>
                    <a:pt x="497075" y="321320"/>
                    <a:pt x="585368" y="314344"/>
                    <a:pt x="654327" y="302691"/>
                  </a:cubicBezTo>
                  <a:cubicBezTo>
                    <a:pt x="709338" y="293395"/>
                    <a:pt x="855264" y="293394"/>
                    <a:pt x="910275" y="302690"/>
                  </a:cubicBezTo>
                  <a:cubicBezTo>
                    <a:pt x="979233" y="314343"/>
                    <a:pt x="1067530" y="321320"/>
                    <a:pt x="1164017" y="321320"/>
                  </a:cubicBezTo>
                  <a:cubicBezTo>
                    <a:pt x="1383227" y="321320"/>
                    <a:pt x="1562716" y="284711"/>
                    <a:pt x="1562716" y="239141"/>
                  </a:cubicBezTo>
                  <a:cubicBezTo>
                    <a:pt x="1562716" y="219261"/>
                    <a:pt x="1527612" y="200988"/>
                    <a:pt x="1469816" y="186755"/>
                  </a:cubicBezTo>
                  <a:cubicBezTo>
                    <a:pt x="1424405" y="175573"/>
                    <a:pt x="1424405" y="146130"/>
                    <a:pt x="1469748" y="134935"/>
                  </a:cubicBezTo>
                  <a:cubicBezTo>
                    <a:pt x="1527587" y="120656"/>
                    <a:pt x="1562716" y="102280"/>
                    <a:pt x="1562716" y="82179"/>
                  </a:cubicBezTo>
                  <a:cubicBezTo>
                    <a:pt x="1562716" y="37002"/>
                    <a:pt x="1383227" y="0"/>
                    <a:pt x="1164017" y="0"/>
                  </a:cubicBezTo>
                  <a:cubicBezTo>
                    <a:pt x="1068361" y="0"/>
                    <a:pt x="981098" y="6823"/>
                    <a:pt x="912502" y="18242"/>
                  </a:cubicBezTo>
                  <a:cubicBezTo>
                    <a:pt x="856659" y="27538"/>
                    <a:pt x="705161" y="27433"/>
                    <a:pt x="649319" y="18138"/>
                  </a:cubicBezTo>
                  <a:cubicBezTo>
                    <a:pt x="581089" y="6781"/>
                    <a:pt x="494067" y="0"/>
                    <a:pt x="398698" y="0"/>
                  </a:cubicBezTo>
                  <a:cubicBezTo>
                    <a:pt x="179487" y="0"/>
                    <a:pt x="0" y="37002"/>
                    <a:pt x="0" y="82179"/>
                  </a:cubicBezTo>
                  <a:cubicBezTo>
                    <a:pt x="0" y="102179"/>
                    <a:pt x="34780" y="120473"/>
                    <a:pt x="92405" y="134721"/>
                  </a:cubicBezTo>
                  <a:close/>
                </a:path>
              </a:pathLst>
            </a:custGeom>
            <a:solidFill>
              <a:srgbClr val="00C2E4"/>
            </a:solidFill>
          </p:spPr>
        </p:sp>
        <p:sp>
          <p:nvSpPr>
            <p:cNvPr name="TextBox 19" id="19"/>
            <p:cNvSpPr txBox="true"/>
            <p:nvPr/>
          </p:nvSpPr>
          <p:spPr>
            <a:xfrm>
              <a:off x="124307" y="-98265"/>
              <a:ext cx="1314102" cy="394026"/>
            </a:xfrm>
            <a:prstGeom prst="rect">
              <a:avLst/>
            </a:prstGeom>
          </p:spPr>
          <p:txBody>
            <a:bodyPr anchor="ctr" rtlCol="false" tIns="50800" lIns="50800" bIns="50800" rIns="50800"/>
            <a:lstStyle/>
            <a:p>
              <a:pPr algn="ctr">
                <a:lnSpc>
                  <a:spcPts val="3628"/>
                </a:lnSpc>
              </a:pPr>
            </a:p>
          </p:txBody>
        </p:sp>
      </p:grpSp>
      <p:sp>
        <p:nvSpPr>
          <p:cNvPr name="TextBox 20" id="20"/>
          <p:cNvSpPr txBox="true"/>
          <p:nvPr/>
        </p:nvSpPr>
        <p:spPr>
          <a:xfrm rot="0">
            <a:off x="2573142" y="3717574"/>
            <a:ext cx="12333032" cy="972398"/>
          </a:xfrm>
          <a:prstGeom prst="rect">
            <a:avLst/>
          </a:prstGeom>
        </p:spPr>
        <p:txBody>
          <a:bodyPr anchor="t" rtlCol="false" tIns="0" lIns="0" bIns="0" rIns="0">
            <a:spAutoFit/>
          </a:bodyPr>
          <a:lstStyle/>
          <a:p>
            <a:pPr algn="ctr">
              <a:lnSpc>
                <a:spcPts val="3628"/>
              </a:lnSpc>
              <a:spcBef>
                <a:spcPct val="0"/>
              </a:spcBef>
            </a:pPr>
            <a:r>
              <a:rPr lang="en-US" b="true" sz="2591">
                <a:solidFill>
                  <a:srgbClr val="FFFFFF"/>
                </a:solidFill>
                <a:latin typeface="Agrandir Medium"/>
                <a:ea typeface="Agrandir Medium"/>
                <a:cs typeface="Agrandir Medium"/>
                <a:sym typeface="Agrandir Medium"/>
              </a:rPr>
              <a:t>Bagaimana mengelola data barang, kategori, kondisi, laboratorium, mahasiswa, dan laboran dalam satu basis data yang saling berhubungan?</a:t>
            </a:r>
          </a:p>
        </p:txBody>
      </p:sp>
      <p:sp>
        <p:nvSpPr>
          <p:cNvPr name="TextBox 21" id="21"/>
          <p:cNvSpPr txBox="true"/>
          <p:nvPr/>
        </p:nvSpPr>
        <p:spPr>
          <a:xfrm rot="0">
            <a:off x="2802886" y="5592319"/>
            <a:ext cx="12254640" cy="936617"/>
          </a:xfrm>
          <a:prstGeom prst="rect">
            <a:avLst/>
          </a:prstGeom>
        </p:spPr>
        <p:txBody>
          <a:bodyPr anchor="t" rtlCol="false" tIns="0" lIns="0" bIns="0" rIns="0">
            <a:spAutoFit/>
          </a:bodyPr>
          <a:lstStyle/>
          <a:p>
            <a:pPr algn="ctr">
              <a:lnSpc>
                <a:spcPts val="3500"/>
              </a:lnSpc>
              <a:spcBef>
                <a:spcPct val="0"/>
              </a:spcBef>
            </a:pPr>
            <a:r>
              <a:rPr lang="en-US" b="true" sz="2500">
                <a:solidFill>
                  <a:srgbClr val="000000"/>
                </a:solidFill>
                <a:latin typeface="Agrandir Medium"/>
                <a:ea typeface="Agrandir Medium"/>
                <a:cs typeface="Agrandir Medium"/>
                <a:sym typeface="Agrandir Medium"/>
              </a:rPr>
              <a:t>Bagaimana mendukung proses peminjaman dan pengembalian barang agar lebih efektif dan efisien?</a:t>
            </a:r>
          </a:p>
        </p:txBody>
      </p:sp>
      <p:sp>
        <p:nvSpPr>
          <p:cNvPr name="TextBox 22" id="22"/>
          <p:cNvSpPr txBox="true"/>
          <p:nvPr/>
        </p:nvSpPr>
        <p:spPr>
          <a:xfrm rot="0">
            <a:off x="2337881" y="6681001"/>
            <a:ext cx="13324387" cy="1363947"/>
          </a:xfrm>
          <a:prstGeom prst="rect">
            <a:avLst/>
          </a:prstGeom>
        </p:spPr>
        <p:txBody>
          <a:bodyPr anchor="t" rtlCol="false" tIns="0" lIns="0" bIns="0" rIns="0">
            <a:spAutoFit/>
          </a:bodyPr>
          <a:lstStyle/>
          <a:p>
            <a:pPr algn="ctr">
              <a:lnSpc>
                <a:spcPts val="3472"/>
              </a:lnSpc>
            </a:pPr>
            <a:r>
              <a:rPr lang="en-US" sz="2480" b="true">
                <a:solidFill>
                  <a:srgbClr val="000000"/>
                </a:solidFill>
                <a:latin typeface="Agrandir Medium"/>
                <a:ea typeface="Agrandir Medium"/>
                <a:cs typeface="Agrandir Medium"/>
                <a:sym typeface="Agrandir Medium"/>
              </a:rPr>
              <a:t>Bagaimana menghasilkan informasi inventaris yang akurat untuk mendukung pengelolaan laboratorium? </a:t>
            </a:r>
          </a:p>
          <a:p>
            <a:pPr algn="ctr">
              <a:lnSpc>
                <a:spcPts val="3472"/>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3162324" y="6604495"/>
            <a:ext cx="11643460" cy="1809734"/>
            <a:chOff x="0" y="0"/>
            <a:chExt cx="2395774" cy="372373"/>
          </a:xfrm>
        </p:grpSpPr>
        <p:sp>
          <p:nvSpPr>
            <p:cNvPr name="Freeform 4" id="4"/>
            <p:cNvSpPr/>
            <p:nvPr/>
          </p:nvSpPr>
          <p:spPr>
            <a:xfrm flipH="false" flipV="false" rot="0">
              <a:off x="0" y="0"/>
              <a:ext cx="2395774" cy="372373"/>
            </a:xfrm>
            <a:custGeom>
              <a:avLst/>
              <a:gdLst/>
              <a:ahLst/>
              <a:cxnLst/>
              <a:rect r="r" b="b" t="t" l="l"/>
              <a:pathLst>
                <a:path h="372373" w="2395774">
                  <a:moveTo>
                    <a:pt x="12987" y="0"/>
                  </a:moveTo>
                  <a:lnTo>
                    <a:pt x="2382787" y="0"/>
                  </a:lnTo>
                  <a:cubicBezTo>
                    <a:pt x="2389959" y="0"/>
                    <a:pt x="2395774" y="5814"/>
                    <a:pt x="2395774" y="12987"/>
                  </a:cubicBezTo>
                  <a:lnTo>
                    <a:pt x="2395774" y="359387"/>
                  </a:lnTo>
                  <a:cubicBezTo>
                    <a:pt x="2395774" y="362831"/>
                    <a:pt x="2394406" y="366134"/>
                    <a:pt x="2391970" y="368570"/>
                  </a:cubicBezTo>
                  <a:cubicBezTo>
                    <a:pt x="2389535" y="371005"/>
                    <a:pt x="2386231" y="372373"/>
                    <a:pt x="2382787" y="372373"/>
                  </a:cubicBezTo>
                  <a:lnTo>
                    <a:pt x="12987" y="372373"/>
                  </a:lnTo>
                  <a:cubicBezTo>
                    <a:pt x="9542" y="372373"/>
                    <a:pt x="6239" y="371005"/>
                    <a:pt x="3804" y="368570"/>
                  </a:cubicBezTo>
                  <a:cubicBezTo>
                    <a:pt x="1368" y="366134"/>
                    <a:pt x="0" y="362831"/>
                    <a:pt x="0" y="359387"/>
                  </a:cubicBezTo>
                  <a:lnTo>
                    <a:pt x="0" y="12987"/>
                  </a:lnTo>
                  <a:cubicBezTo>
                    <a:pt x="0" y="9542"/>
                    <a:pt x="1368" y="6239"/>
                    <a:pt x="3804" y="3804"/>
                  </a:cubicBezTo>
                  <a:cubicBezTo>
                    <a:pt x="6239" y="1368"/>
                    <a:pt x="9542" y="0"/>
                    <a:pt x="12987" y="0"/>
                  </a:cubicBezTo>
                  <a:close/>
                </a:path>
              </a:pathLst>
            </a:custGeom>
            <a:ln w="38100" cap="rnd">
              <a:gradFill>
                <a:gsLst>
                  <a:gs pos="0">
                    <a:srgbClr val="005380">
                      <a:alpha val="100000"/>
                    </a:srgbClr>
                  </a:gs>
                  <a:gs pos="100000">
                    <a:srgbClr val="8FEEFA">
                      <a:alpha val="100000"/>
                    </a:srgbClr>
                  </a:gs>
                </a:gsLst>
                <a:path path="circle">
                  <a:fillToRect l="0" r="100000" t="0" b="100000"/>
                </a:path>
                <a:tileRect r="0" l="-100000" b="0" t="-100000"/>
              </a:gradFill>
              <a:prstDash val="solid"/>
              <a:round/>
            </a:ln>
          </p:spPr>
        </p:sp>
        <p:sp>
          <p:nvSpPr>
            <p:cNvPr name="TextBox 5" id="5"/>
            <p:cNvSpPr txBox="true"/>
            <p:nvPr/>
          </p:nvSpPr>
          <p:spPr>
            <a:xfrm>
              <a:off x="0" y="-123825"/>
              <a:ext cx="2395774" cy="496198"/>
            </a:xfrm>
            <a:prstGeom prst="rect">
              <a:avLst/>
            </a:prstGeom>
          </p:spPr>
          <p:txBody>
            <a:bodyPr anchor="ctr" rtlCol="false" tIns="50800" lIns="50800" bIns="50800" rIns="50800"/>
            <a:lstStyle/>
            <a:p>
              <a:pPr algn="ctr">
                <a:lnSpc>
                  <a:spcPts val="3628"/>
                </a:lnSpc>
              </a:pPr>
            </a:p>
          </p:txBody>
        </p:sp>
      </p:grpSp>
      <p:sp>
        <p:nvSpPr>
          <p:cNvPr name="Freeform 6" id="6"/>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3070322" y="7313188"/>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11" id="11"/>
          <p:cNvGrpSpPr/>
          <p:nvPr/>
        </p:nvGrpSpPr>
        <p:grpSpPr>
          <a:xfrm rot="0">
            <a:off x="16233274" y="-2976237"/>
            <a:ext cx="5012156" cy="501215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3" id="13"/>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14" id="14"/>
          <p:cNvSpPr/>
          <p:nvPr/>
        </p:nvSpPr>
        <p:spPr>
          <a:xfrm flipH="false" flipV="false" rot="10733209">
            <a:off x="1040589" y="1887689"/>
            <a:ext cx="1229153" cy="1235894"/>
          </a:xfrm>
          <a:custGeom>
            <a:avLst/>
            <a:gdLst/>
            <a:ahLst/>
            <a:cxnLst/>
            <a:rect r="r" b="b" t="t" l="l"/>
            <a:pathLst>
              <a:path h="1235894" w="1229153">
                <a:moveTo>
                  <a:pt x="0" y="0"/>
                </a:moveTo>
                <a:lnTo>
                  <a:pt x="1229153" y="0"/>
                </a:lnTo>
                <a:lnTo>
                  <a:pt x="1229153" y="1235894"/>
                </a:lnTo>
                <a:lnTo>
                  <a:pt x="0" y="12358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p:nvPr/>
        </p:nvGrpSpPr>
        <p:grpSpPr>
          <a:xfrm rot="0">
            <a:off x="3659921" y="3135406"/>
            <a:ext cx="11014647" cy="1512794"/>
            <a:chOff x="0" y="0"/>
            <a:chExt cx="2266388" cy="311275"/>
          </a:xfrm>
        </p:grpSpPr>
        <p:sp>
          <p:nvSpPr>
            <p:cNvPr name="Freeform 16" id="16"/>
            <p:cNvSpPr/>
            <p:nvPr/>
          </p:nvSpPr>
          <p:spPr>
            <a:xfrm flipH="false" flipV="false" rot="0">
              <a:off x="0" y="0"/>
              <a:ext cx="2266388" cy="311275"/>
            </a:xfrm>
            <a:custGeom>
              <a:avLst/>
              <a:gdLst/>
              <a:ahLst/>
              <a:cxnLst/>
              <a:rect r="r" b="b" t="t" l="l"/>
              <a:pathLst>
                <a:path h="311275" w="2266388">
                  <a:moveTo>
                    <a:pt x="13728" y="0"/>
                  </a:moveTo>
                  <a:lnTo>
                    <a:pt x="2252660" y="0"/>
                  </a:lnTo>
                  <a:cubicBezTo>
                    <a:pt x="2256301" y="0"/>
                    <a:pt x="2259793" y="1446"/>
                    <a:pt x="2262367" y="4021"/>
                  </a:cubicBezTo>
                  <a:cubicBezTo>
                    <a:pt x="2264942" y="6595"/>
                    <a:pt x="2266388" y="10087"/>
                    <a:pt x="2266388" y="13728"/>
                  </a:cubicBezTo>
                  <a:lnTo>
                    <a:pt x="2266388" y="297547"/>
                  </a:lnTo>
                  <a:cubicBezTo>
                    <a:pt x="2266388" y="301187"/>
                    <a:pt x="2264942" y="304679"/>
                    <a:pt x="2262367" y="307254"/>
                  </a:cubicBezTo>
                  <a:cubicBezTo>
                    <a:pt x="2259793" y="309828"/>
                    <a:pt x="2256301" y="311275"/>
                    <a:pt x="2252660" y="311275"/>
                  </a:cubicBezTo>
                  <a:lnTo>
                    <a:pt x="13728" y="311275"/>
                  </a:lnTo>
                  <a:cubicBezTo>
                    <a:pt x="10087" y="311275"/>
                    <a:pt x="6595" y="309828"/>
                    <a:pt x="4021" y="307254"/>
                  </a:cubicBezTo>
                  <a:cubicBezTo>
                    <a:pt x="1446" y="304679"/>
                    <a:pt x="0" y="301187"/>
                    <a:pt x="0" y="297547"/>
                  </a:cubicBezTo>
                  <a:lnTo>
                    <a:pt x="0" y="13728"/>
                  </a:lnTo>
                  <a:cubicBezTo>
                    <a:pt x="0" y="10087"/>
                    <a:pt x="1446" y="6595"/>
                    <a:pt x="4021" y="4021"/>
                  </a:cubicBezTo>
                  <a:cubicBezTo>
                    <a:pt x="6595" y="1446"/>
                    <a:pt x="10087" y="0"/>
                    <a:pt x="13728" y="0"/>
                  </a:cubicBezTo>
                  <a:close/>
                </a:path>
              </a:pathLst>
            </a:custGeom>
            <a:ln w="38100" cap="rnd">
              <a:gradFill>
                <a:gsLst>
                  <a:gs pos="0">
                    <a:srgbClr val="005380">
                      <a:alpha val="100000"/>
                    </a:srgbClr>
                  </a:gs>
                  <a:gs pos="100000">
                    <a:srgbClr val="8FEEFA">
                      <a:alpha val="100000"/>
                    </a:srgbClr>
                  </a:gs>
                </a:gsLst>
                <a:path path="circle">
                  <a:fillToRect l="0" r="100000" t="0" b="100000"/>
                </a:path>
                <a:tileRect r="0" l="-100000" b="0" t="-100000"/>
              </a:gradFill>
              <a:prstDash val="solid"/>
              <a:round/>
            </a:ln>
          </p:spPr>
        </p:sp>
        <p:sp>
          <p:nvSpPr>
            <p:cNvPr name="TextBox 17" id="17"/>
            <p:cNvSpPr txBox="true"/>
            <p:nvPr/>
          </p:nvSpPr>
          <p:spPr>
            <a:xfrm>
              <a:off x="0" y="-123825"/>
              <a:ext cx="2266388" cy="435100"/>
            </a:xfrm>
            <a:prstGeom prst="rect">
              <a:avLst/>
            </a:prstGeom>
          </p:spPr>
          <p:txBody>
            <a:bodyPr anchor="ctr" rtlCol="false" tIns="50800" lIns="50800" bIns="50800" rIns="50800"/>
            <a:lstStyle/>
            <a:p>
              <a:pPr algn="ctr">
                <a:lnSpc>
                  <a:spcPts val="3628"/>
                </a:lnSpc>
              </a:pPr>
            </a:p>
          </p:txBody>
        </p:sp>
      </p:grpSp>
      <p:grpSp>
        <p:nvGrpSpPr>
          <p:cNvPr name="Group 18" id="18"/>
          <p:cNvGrpSpPr/>
          <p:nvPr/>
        </p:nvGrpSpPr>
        <p:grpSpPr>
          <a:xfrm rot="0">
            <a:off x="2664727" y="3387504"/>
            <a:ext cx="995194" cy="1008597"/>
            <a:chOff x="0" y="0"/>
            <a:chExt cx="812800" cy="812800"/>
          </a:xfrm>
        </p:grpSpPr>
        <p:sp>
          <p:nvSpPr>
            <p:cNvPr name="Freeform 19" id="19"/>
            <p:cNvSpPr/>
            <p:nvPr/>
          </p:nvSpPr>
          <p:spPr>
            <a:xfrm flipH="false" flipV="false" rot="0">
              <a:off x="93415" y="93415"/>
              <a:ext cx="625969" cy="625969"/>
            </a:xfrm>
            <a:custGeom>
              <a:avLst/>
              <a:gdLst/>
              <a:ahLst/>
              <a:cxnLst/>
              <a:rect r="r" b="b" t="t" l="l"/>
              <a:pathLst>
                <a:path h="625969" w="625969">
                  <a:moveTo>
                    <a:pt x="366760" y="35875"/>
                  </a:moveTo>
                  <a:lnTo>
                    <a:pt x="378590" y="64315"/>
                  </a:lnTo>
                  <a:cubicBezTo>
                    <a:pt x="413032" y="147124"/>
                    <a:pt x="478846" y="212938"/>
                    <a:pt x="561655" y="247381"/>
                  </a:cubicBezTo>
                  <a:lnTo>
                    <a:pt x="590095" y="259210"/>
                  </a:lnTo>
                  <a:cubicBezTo>
                    <a:pt x="611817" y="268244"/>
                    <a:pt x="625970" y="289460"/>
                    <a:pt x="625970" y="312985"/>
                  </a:cubicBezTo>
                  <a:cubicBezTo>
                    <a:pt x="625970" y="336511"/>
                    <a:pt x="611817" y="357726"/>
                    <a:pt x="590095" y="366760"/>
                  </a:cubicBezTo>
                  <a:lnTo>
                    <a:pt x="561655" y="378590"/>
                  </a:lnTo>
                  <a:cubicBezTo>
                    <a:pt x="478846" y="413032"/>
                    <a:pt x="413032" y="478846"/>
                    <a:pt x="378590" y="561655"/>
                  </a:cubicBezTo>
                  <a:lnTo>
                    <a:pt x="366760" y="590095"/>
                  </a:lnTo>
                  <a:cubicBezTo>
                    <a:pt x="357726" y="611817"/>
                    <a:pt x="336511" y="625970"/>
                    <a:pt x="312985" y="625970"/>
                  </a:cubicBezTo>
                  <a:cubicBezTo>
                    <a:pt x="289460" y="625970"/>
                    <a:pt x="268244" y="611817"/>
                    <a:pt x="259210" y="590095"/>
                  </a:cubicBezTo>
                  <a:lnTo>
                    <a:pt x="247381" y="561655"/>
                  </a:lnTo>
                  <a:cubicBezTo>
                    <a:pt x="212938" y="478846"/>
                    <a:pt x="147124" y="413032"/>
                    <a:pt x="64315" y="378590"/>
                  </a:cubicBezTo>
                  <a:lnTo>
                    <a:pt x="35875" y="366760"/>
                  </a:lnTo>
                  <a:cubicBezTo>
                    <a:pt x="14153" y="357726"/>
                    <a:pt x="0" y="336511"/>
                    <a:pt x="0" y="312985"/>
                  </a:cubicBezTo>
                  <a:cubicBezTo>
                    <a:pt x="0" y="289460"/>
                    <a:pt x="14153" y="268244"/>
                    <a:pt x="35875" y="259210"/>
                  </a:cubicBezTo>
                  <a:lnTo>
                    <a:pt x="64315" y="247381"/>
                  </a:lnTo>
                  <a:cubicBezTo>
                    <a:pt x="147124" y="212938"/>
                    <a:pt x="212938" y="147124"/>
                    <a:pt x="247381" y="64315"/>
                  </a:cubicBezTo>
                  <a:lnTo>
                    <a:pt x="259210" y="35875"/>
                  </a:lnTo>
                  <a:cubicBezTo>
                    <a:pt x="268244" y="14153"/>
                    <a:pt x="289460" y="0"/>
                    <a:pt x="312985" y="0"/>
                  </a:cubicBezTo>
                  <a:cubicBezTo>
                    <a:pt x="336511" y="0"/>
                    <a:pt x="357726" y="14153"/>
                    <a:pt x="366760" y="35875"/>
                  </a:cubicBezTo>
                  <a:close/>
                </a:path>
              </a:pathLst>
            </a:custGeom>
            <a:ln w="142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20" id="20"/>
            <p:cNvSpPr txBox="true"/>
            <p:nvPr/>
          </p:nvSpPr>
          <p:spPr>
            <a:xfrm>
              <a:off x="286472" y="162647"/>
              <a:ext cx="239855" cy="363680"/>
            </a:xfrm>
            <a:prstGeom prst="rect">
              <a:avLst/>
            </a:prstGeom>
          </p:spPr>
          <p:txBody>
            <a:bodyPr anchor="ctr" rtlCol="false" tIns="50800" lIns="50800" bIns="50800" rIns="50800"/>
            <a:lstStyle/>
            <a:p>
              <a:pPr algn="ctr" marL="0" indent="0" lvl="0">
                <a:lnSpc>
                  <a:spcPts val="3628"/>
                </a:lnSpc>
                <a:spcBef>
                  <a:spcPct val="0"/>
                </a:spcBef>
              </a:pPr>
            </a:p>
          </p:txBody>
        </p:sp>
      </p:grpSp>
      <p:grpSp>
        <p:nvGrpSpPr>
          <p:cNvPr name="Group 21" id="21"/>
          <p:cNvGrpSpPr/>
          <p:nvPr/>
        </p:nvGrpSpPr>
        <p:grpSpPr>
          <a:xfrm rot="0">
            <a:off x="5619910" y="4844051"/>
            <a:ext cx="11831528" cy="1512794"/>
            <a:chOff x="0" y="0"/>
            <a:chExt cx="2434471" cy="311275"/>
          </a:xfrm>
        </p:grpSpPr>
        <p:sp>
          <p:nvSpPr>
            <p:cNvPr name="Freeform 22" id="22"/>
            <p:cNvSpPr/>
            <p:nvPr/>
          </p:nvSpPr>
          <p:spPr>
            <a:xfrm flipH="false" flipV="false" rot="0">
              <a:off x="0" y="0"/>
              <a:ext cx="2434471" cy="311275"/>
            </a:xfrm>
            <a:custGeom>
              <a:avLst/>
              <a:gdLst/>
              <a:ahLst/>
              <a:cxnLst/>
              <a:rect r="r" b="b" t="t" l="l"/>
              <a:pathLst>
                <a:path h="311275" w="2434471">
                  <a:moveTo>
                    <a:pt x="12780" y="0"/>
                  </a:moveTo>
                  <a:lnTo>
                    <a:pt x="2421691" y="0"/>
                  </a:lnTo>
                  <a:cubicBezTo>
                    <a:pt x="2428749" y="0"/>
                    <a:pt x="2434471" y="5722"/>
                    <a:pt x="2434471" y="12780"/>
                  </a:cubicBezTo>
                  <a:lnTo>
                    <a:pt x="2434471" y="298494"/>
                  </a:lnTo>
                  <a:cubicBezTo>
                    <a:pt x="2434471" y="305553"/>
                    <a:pt x="2428749" y="311275"/>
                    <a:pt x="2421691" y="311275"/>
                  </a:cubicBezTo>
                  <a:lnTo>
                    <a:pt x="12780" y="311275"/>
                  </a:lnTo>
                  <a:cubicBezTo>
                    <a:pt x="5722" y="311275"/>
                    <a:pt x="0" y="305553"/>
                    <a:pt x="0" y="298494"/>
                  </a:cubicBezTo>
                  <a:lnTo>
                    <a:pt x="0" y="12780"/>
                  </a:lnTo>
                  <a:cubicBezTo>
                    <a:pt x="0" y="5722"/>
                    <a:pt x="5722" y="0"/>
                    <a:pt x="12780" y="0"/>
                  </a:cubicBezTo>
                  <a:close/>
                </a:path>
              </a:pathLst>
            </a:custGeom>
            <a:ln w="38100" cap="rnd">
              <a:gradFill>
                <a:gsLst>
                  <a:gs pos="0">
                    <a:srgbClr val="005380">
                      <a:alpha val="100000"/>
                    </a:srgbClr>
                  </a:gs>
                  <a:gs pos="100000">
                    <a:srgbClr val="8FEEFA">
                      <a:alpha val="100000"/>
                    </a:srgbClr>
                  </a:gs>
                </a:gsLst>
                <a:path path="circle">
                  <a:fillToRect l="0" r="100000" t="0" b="100000"/>
                </a:path>
                <a:tileRect r="0" l="-100000" b="0" t="-100000"/>
              </a:gradFill>
              <a:prstDash val="solid"/>
              <a:round/>
            </a:ln>
          </p:spPr>
        </p:sp>
        <p:sp>
          <p:nvSpPr>
            <p:cNvPr name="TextBox 23" id="23"/>
            <p:cNvSpPr txBox="true"/>
            <p:nvPr/>
          </p:nvSpPr>
          <p:spPr>
            <a:xfrm>
              <a:off x="0" y="-123825"/>
              <a:ext cx="2434471" cy="435100"/>
            </a:xfrm>
            <a:prstGeom prst="rect">
              <a:avLst/>
            </a:prstGeom>
          </p:spPr>
          <p:txBody>
            <a:bodyPr anchor="ctr" rtlCol="false" tIns="50800" lIns="50800" bIns="50800" rIns="50800"/>
            <a:lstStyle/>
            <a:p>
              <a:pPr algn="ctr">
                <a:lnSpc>
                  <a:spcPts val="3628"/>
                </a:lnSpc>
              </a:pPr>
            </a:p>
          </p:txBody>
        </p:sp>
      </p:grpSp>
      <p:grpSp>
        <p:nvGrpSpPr>
          <p:cNvPr name="Group 24" id="24"/>
          <p:cNvGrpSpPr/>
          <p:nvPr/>
        </p:nvGrpSpPr>
        <p:grpSpPr>
          <a:xfrm rot="0">
            <a:off x="4519913" y="5143500"/>
            <a:ext cx="995194" cy="1008597"/>
            <a:chOff x="0" y="0"/>
            <a:chExt cx="812800" cy="812800"/>
          </a:xfrm>
        </p:grpSpPr>
        <p:sp>
          <p:nvSpPr>
            <p:cNvPr name="Freeform 25" id="25"/>
            <p:cNvSpPr/>
            <p:nvPr/>
          </p:nvSpPr>
          <p:spPr>
            <a:xfrm flipH="false" flipV="false" rot="0">
              <a:off x="93415" y="93415"/>
              <a:ext cx="625969" cy="625969"/>
            </a:xfrm>
            <a:custGeom>
              <a:avLst/>
              <a:gdLst/>
              <a:ahLst/>
              <a:cxnLst/>
              <a:rect r="r" b="b" t="t" l="l"/>
              <a:pathLst>
                <a:path h="625969" w="625969">
                  <a:moveTo>
                    <a:pt x="366760" y="35875"/>
                  </a:moveTo>
                  <a:lnTo>
                    <a:pt x="378590" y="64315"/>
                  </a:lnTo>
                  <a:cubicBezTo>
                    <a:pt x="413032" y="147124"/>
                    <a:pt x="478846" y="212938"/>
                    <a:pt x="561655" y="247381"/>
                  </a:cubicBezTo>
                  <a:lnTo>
                    <a:pt x="590095" y="259210"/>
                  </a:lnTo>
                  <a:cubicBezTo>
                    <a:pt x="611817" y="268244"/>
                    <a:pt x="625970" y="289460"/>
                    <a:pt x="625970" y="312985"/>
                  </a:cubicBezTo>
                  <a:cubicBezTo>
                    <a:pt x="625970" y="336511"/>
                    <a:pt x="611817" y="357726"/>
                    <a:pt x="590095" y="366760"/>
                  </a:cubicBezTo>
                  <a:lnTo>
                    <a:pt x="561655" y="378590"/>
                  </a:lnTo>
                  <a:cubicBezTo>
                    <a:pt x="478846" y="413032"/>
                    <a:pt x="413032" y="478846"/>
                    <a:pt x="378590" y="561655"/>
                  </a:cubicBezTo>
                  <a:lnTo>
                    <a:pt x="366760" y="590095"/>
                  </a:lnTo>
                  <a:cubicBezTo>
                    <a:pt x="357726" y="611817"/>
                    <a:pt x="336511" y="625970"/>
                    <a:pt x="312985" y="625970"/>
                  </a:cubicBezTo>
                  <a:cubicBezTo>
                    <a:pt x="289460" y="625970"/>
                    <a:pt x="268244" y="611817"/>
                    <a:pt x="259210" y="590095"/>
                  </a:cubicBezTo>
                  <a:lnTo>
                    <a:pt x="247381" y="561655"/>
                  </a:lnTo>
                  <a:cubicBezTo>
                    <a:pt x="212938" y="478846"/>
                    <a:pt x="147124" y="413032"/>
                    <a:pt x="64315" y="378590"/>
                  </a:cubicBezTo>
                  <a:lnTo>
                    <a:pt x="35875" y="366760"/>
                  </a:lnTo>
                  <a:cubicBezTo>
                    <a:pt x="14153" y="357726"/>
                    <a:pt x="0" y="336511"/>
                    <a:pt x="0" y="312985"/>
                  </a:cubicBezTo>
                  <a:cubicBezTo>
                    <a:pt x="0" y="289460"/>
                    <a:pt x="14153" y="268244"/>
                    <a:pt x="35875" y="259210"/>
                  </a:cubicBezTo>
                  <a:lnTo>
                    <a:pt x="64315" y="247381"/>
                  </a:lnTo>
                  <a:cubicBezTo>
                    <a:pt x="147124" y="212938"/>
                    <a:pt x="212938" y="147124"/>
                    <a:pt x="247381" y="64315"/>
                  </a:cubicBezTo>
                  <a:lnTo>
                    <a:pt x="259210" y="35875"/>
                  </a:lnTo>
                  <a:cubicBezTo>
                    <a:pt x="268244" y="14153"/>
                    <a:pt x="289460" y="0"/>
                    <a:pt x="312985" y="0"/>
                  </a:cubicBezTo>
                  <a:cubicBezTo>
                    <a:pt x="336511" y="0"/>
                    <a:pt x="357726" y="14153"/>
                    <a:pt x="366760" y="35875"/>
                  </a:cubicBezTo>
                  <a:close/>
                </a:path>
              </a:pathLst>
            </a:custGeom>
            <a:ln w="142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26" id="26"/>
            <p:cNvSpPr txBox="true"/>
            <p:nvPr/>
          </p:nvSpPr>
          <p:spPr>
            <a:xfrm>
              <a:off x="286472" y="162647"/>
              <a:ext cx="239855" cy="363680"/>
            </a:xfrm>
            <a:prstGeom prst="rect">
              <a:avLst/>
            </a:prstGeom>
          </p:spPr>
          <p:txBody>
            <a:bodyPr anchor="ctr" rtlCol="false" tIns="50800" lIns="50800" bIns="50800" rIns="50800"/>
            <a:lstStyle/>
            <a:p>
              <a:pPr algn="ctr" marL="0" indent="0" lvl="0">
                <a:lnSpc>
                  <a:spcPts val="3628"/>
                </a:lnSpc>
                <a:spcBef>
                  <a:spcPct val="0"/>
                </a:spcBef>
              </a:pPr>
            </a:p>
          </p:txBody>
        </p:sp>
      </p:grpSp>
      <p:grpSp>
        <p:nvGrpSpPr>
          <p:cNvPr name="Group 27" id="27"/>
          <p:cNvGrpSpPr/>
          <p:nvPr/>
        </p:nvGrpSpPr>
        <p:grpSpPr>
          <a:xfrm rot="0">
            <a:off x="2167130" y="6830013"/>
            <a:ext cx="995194" cy="1008597"/>
            <a:chOff x="0" y="0"/>
            <a:chExt cx="812800" cy="812800"/>
          </a:xfrm>
        </p:grpSpPr>
        <p:sp>
          <p:nvSpPr>
            <p:cNvPr name="Freeform 28" id="28"/>
            <p:cNvSpPr/>
            <p:nvPr/>
          </p:nvSpPr>
          <p:spPr>
            <a:xfrm flipH="false" flipV="false" rot="0">
              <a:off x="93415" y="93415"/>
              <a:ext cx="625969" cy="625969"/>
            </a:xfrm>
            <a:custGeom>
              <a:avLst/>
              <a:gdLst/>
              <a:ahLst/>
              <a:cxnLst/>
              <a:rect r="r" b="b" t="t" l="l"/>
              <a:pathLst>
                <a:path h="625969" w="625969">
                  <a:moveTo>
                    <a:pt x="366760" y="35875"/>
                  </a:moveTo>
                  <a:lnTo>
                    <a:pt x="378590" y="64315"/>
                  </a:lnTo>
                  <a:cubicBezTo>
                    <a:pt x="413032" y="147124"/>
                    <a:pt x="478846" y="212938"/>
                    <a:pt x="561655" y="247381"/>
                  </a:cubicBezTo>
                  <a:lnTo>
                    <a:pt x="590095" y="259210"/>
                  </a:lnTo>
                  <a:cubicBezTo>
                    <a:pt x="611817" y="268244"/>
                    <a:pt x="625970" y="289460"/>
                    <a:pt x="625970" y="312985"/>
                  </a:cubicBezTo>
                  <a:cubicBezTo>
                    <a:pt x="625970" y="336511"/>
                    <a:pt x="611817" y="357726"/>
                    <a:pt x="590095" y="366760"/>
                  </a:cubicBezTo>
                  <a:lnTo>
                    <a:pt x="561655" y="378590"/>
                  </a:lnTo>
                  <a:cubicBezTo>
                    <a:pt x="478846" y="413032"/>
                    <a:pt x="413032" y="478846"/>
                    <a:pt x="378590" y="561655"/>
                  </a:cubicBezTo>
                  <a:lnTo>
                    <a:pt x="366760" y="590095"/>
                  </a:lnTo>
                  <a:cubicBezTo>
                    <a:pt x="357726" y="611817"/>
                    <a:pt x="336511" y="625970"/>
                    <a:pt x="312985" y="625970"/>
                  </a:cubicBezTo>
                  <a:cubicBezTo>
                    <a:pt x="289460" y="625970"/>
                    <a:pt x="268244" y="611817"/>
                    <a:pt x="259210" y="590095"/>
                  </a:cubicBezTo>
                  <a:lnTo>
                    <a:pt x="247381" y="561655"/>
                  </a:lnTo>
                  <a:cubicBezTo>
                    <a:pt x="212938" y="478846"/>
                    <a:pt x="147124" y="413032"/>
                    <a:pt x="64315" y="378590"/>
                  </a:cubicBezTo>
                  <a:lnTo>
                    <a:pt x="35875" y="366760"/>
                  </a:lnTo>
                  <a:cubicBezTo>
                    <a:pt x="14153" y="357726"/>
                    <a:pt x="0" y="336511"/>
                    <a:pt x="0" y="312985"/>
                  </a:cubicBezTo>
                  <a:cubicBezTo>
                    <a:pt x="0" y="289460"/>
                    <a:pt x="14153" y="268244"/>
                    <a:pt x="35875" y="259210"/>
                  </a:cubicBezTo>
                  <a:lnTo>
                    <a:pt x="64315" y="247381"/>
                  </a:lnTo>
                  <a:cubicBezTo>
                    <a:pt x="147124" y="212938"/>
                    <a:pt x="212938" y="147124"/>
                    <a:pt x="247381" y="64315"/>
                  </a:cubicBezTo>
                  <a:lnTo>
                    <a:pt x="259210" y="35875"/>
                  </a:lnTo>
                  <a:cubicBezTo>
                    <a:pt x="268244" y="14153"/>
                    <a:pt x="289460" y="0"/>
                    <a:pt x="312985" y="0"/>
                  </a:cubicBezTo>
                  <a:cubicBezTo>
                    <a:pt x="336511" y="0"/>
                    <a:pt x="357726" y="14153"/>
                    <a:pt x="366760" y="35875"/>
                  </a:cubicBezTo>
                  <a:close/>
                </a:path>
              </a:pathLst>
            </a:custGeom>
            <a:ln w="142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29" id="29"/>
            <p:cNvSpPr txBox="true"/>
            <p:nvPr/>
          </p:nvSpPr>
          <p:spPr>
            <a:xfrm>
              <a:off x="286472" y="162647"/>
              <a:ext cx="239855" cy="363680"/>
            </a:xfrm>
            <a:prstGeom prst="rect">
              <a:avLst/>
            </a:prstGeom>
          </p:spPr>
          <p:txBody>
            <a:bodyPr anchor="ctr" rtlCol="false" tIns="50800" lIns="50800" bIns="50800" rIns="50800"/>
            <a:lstStyle/>
            <a:p>
              <a:pPr algn="ctr" marL="0" indent="0" lvl="0">
                <a:lnSpc>
                  <a:spcPts val="3628"/>
                </a:lnSpc>
                <a:spcBef>
                  <a:spcPct val="0"/>
                </a:spcBef>
              </a:pPr>
            </a:p>
          </p:txBody>
        </p:sp>
      </p:grpSp>
      <p:sp>
        <p:nvSpPr>
          <p:cNvPr name="TextBox 30" id="30"/>
          <p:cNvSpPr txBox="true"/>
          <p:nvPr/>
        </p:nvSpPr>
        <p:spPr>
          <a:xfrm rot="0">
            <a:off x="2478789" y="1820276"/>
            <a:ext cx="9846971" cy="1194763"/>
          </a:xfrm>
          <a:prstGeom prst="rect">
            <a:avLst/>
          </a:prstGeom>
        </p:spPr>
        <p:txBody>
          <a:bodyPr anchor="t" rtlCol="false" tIns="0" lIns="0" bIns="0" rIns="0">
            <a:spAutoFit/>
          </a:bodyPr>
          <a:lstStyle/>
          <a:p>
            <a:pPr algn="l">
              <a:lnSpc>
                <a:spcPts val="7744"/>
              </a:lnSpc>
            </a:pPr>
            <a:r>
              <a:rPr lang="en-US" b="true" sz="6792">
                <a:solidFill>
                  <a:srgbClr val="005380"/>
                </a:solidFill>
                <a:latin typeface="Agrandir Bold"/>
                <a:ea typeface="Agrandir Bold"/>
                <a:cs typeface="Agrandir Bold"/>
                <a:sym typeface="Agrandir Bold"/>
              </a:rPr>
              <a:t>TUJUAN PENELITIAN</a:t>
            </a:r>
          </a:p>
        </p:txBody>
      </p:sp>
      <p:sp>
        <p:nvSpPr>
          <p:cNvPr name="TextBox 31" id="31"/>
          <p:cNvSpPr txBox="true"/>
          <p:nvPr/>
        </p:nvSpPr>
        <p:spPr>
          <a:xfrm rot="0">
            <a:off x="3527999" y="3180735"/>
            <a:ext cx="10967491" cy="1663315"/>
          </a:xfrm>
          <a:prstGeom prst="rect">
            <a:avLst/>
          </a:prstGeom>
        </p:spPr>
        <p:txBody>
          <a:bodyPr anchor="t" rtlCol="false" tIns="0" lIns="0" bIns="0" rIns="0">
            <a:spAutoFit/>
          </a:bodyPr>
          <a:lstStyle/>
          <a:p>
            <a:pPr algn="just" marL="488189" indent="-244095" lvl="1">
              <a:lnSpc>
                <a:spcPts val="3165"/>
              </a:lnSpc>
              <a:buFont typeface="Arial"/>
              <a:buChar char="•"/>
            </a:pPr>
            <a:r>
              <a:rPr lang="en-US" sz="2261">
                <a:solidFill>
                  <a:srgbClr val="005380"/>
                </a:solidFill>
                <a:latin typeface="Agrandir"/>
                <a:ea typeface="Agrandir"/>
                <a:cs typeface="Agrandir"/>
                <a:sym typeface="Agrandir"/>
              </a:rPr>
              <a:t>Merancang sistem basis data untuk mengelola inventaris laboratorium secara terstruktur dan terintegrasi.</a:t>
            </a:r>
          </a:p>
          <a:p>
            <a:pPr algn="just" marL="488189" indent="-244095" lvl="1">
              <a:lnSpc>
                <a:spcPts val="3165"/>
              </a:lnSpc>
              <a:buFont typeface="Arial"/>
              <a:buChar char="•"/>
            </a:pPr>
            <a:r>
              <a:rPr lang="en-US" sz="2261">
                <a:solidFill>
                  <a:srgbClr val="005380"/>
                </a:solidFill>
                <a:latin typeface="Agrandir"/>
                <a:ea typeface="Agrandir"/>
                <a:cs typeface="Agrandir"/>
                <a:sym typeface="Agrandir"/>
              </a:rPr>
              <a:t>Menyimpan data inventaris agar lebih mudah dikelola, diperbarui, dan diakses.</a:t>
            </a:r>
          </a:p>
          <a:p>
            <a:pPr algn="just" marL="0" indent="0" lvl="1">
              <a:lnSpc>
                <a:spcPts val="3165"/>
              </a:lnSpc>
              <a:spcBef>
                <a:spcPct val="0"/>
              </a:spcBef>
            </a:pPr>
          </a:p>
        </p:txBody>
      </p:sp>
      <p:sp>
        <p:nvSpPr>
          <p:cNvPr name="TextBox 32" id="32"/>
          <p:cNvSpPr txBox="true"/>
          <p:nvPr/>
        </p:nvSpPr>
        <p:spPr>
          <a:xfrm rot="0">
            <a:off x="5515107" y="4864937"/>
            <a:ext cx="11722669" cy="1739558"/>
          </a:xfrm>
          <a:prstGeom prst="rect">
            <a:avLst/>
          </a:prstGeom>
        </p:spPr>
        <p:txBody>
          <a:bodyPr anchor="t" rtlCol="false" tIns="0" lIns="0" bIns="0" rIns="0">
            <a:spAutoFit/>
          </a:bodyPr>
          <a:lstStyle/>
          <a:p>
            <a:pPr algn="just" marL="515666" indent="-257833" lvl="1">
              <a:lnSpc>
                <a:spcPts val="3343"/>
              </a:lnSpc>
              <a:buFont typeface="Arial"/>
              <a:buChar char="•"/>
            </a:pPr>
            <a:r>
              <a:rPr lang="en-US" sz="2388">
                <a:solidFill>
                  <a:srgbClr val="005380"/>
                </a:solidFill>
                <a:latin typeface="Agrandir"/>
                <a:ea typeface="Agrandir"/>
                <a:cs typeface="Agrandir"/>
                <a:sym typeface="Agrandir"/>
              </a:rPr>
              <a:t>Mempermudah pencatatan data barang, kategori, kondisi barang, mahasiswa, dan laboran.</a:t>
            </a:r>
          </a:p>
          <a:p>
            <a:pPr algn="just" marL="515666" indent="-257833" lvl="1">
              <a:lnSpc>
                <a:spcPts val="3343"/>
              </a:lnSpc>
              <a:buFont typeface="Arial"/>
              <a:buChar char="•"/>
            </a:pPr>
            <a:r>
              <a:rPr lang="en-US" sz="2388">
                <a:solidFill>
                  <a:srgbClr val="005380"/>
                </a:solidFill>
                <a:latin typeface="Agrandir"/>
                <a:ea typeface="Agrandir"/>
                <a:cs typeface="Agrandir"/>
                <a:sym typeface="Agrandir"/>
              </a:rPr>
              <a:t>Mendukung proses peminjaman dan pengembalian barang secara lebih efektif.</a:t>
            </a:r>
          </a:p>
          <a:p>
            <a:pPr algn="just">
              <a:lnSpc>
                <a:spcPts val="3343"/>
              </a:lnSpc>
            </a:pPr>
          </a:p>
        </p:txBody>
      </p:sp>
      <p:sp>
        <p:nvSpPr>
          <p:cNvPr name="TextBox 33" id="33"/>
          <p:cNvSpPr txBox="true"/>
          <p:nvPr/>
        </p:nvSpPr>
        <p:spPr>
          <a:xfrm rot="0">
            <a:off x="3162324" y="6581781"/>
            <a:ext cx="11289717" cy="2184242"/>
          </a:xfrm>
          <a:prstGeom prst="rect">
            <a:avLst/>
          </a:prstGeom>
        </p:spPr>
        <p:txBody>
          <a:bodyPr anchor="t" rtlCol="false" tIns="0" lIns="0" bIns="0" rIns="0">
            <a:spAutoFit/>
          </a:bodyPr>
          <a:lstStyle/>
          <a:p>
            <a:pPr algn="just" marL="515667" indent="-257833" lvl="1">
              <a:lnSpc>
                <a:spcPts val="3343"/>
              </a:lnSpc>
              <a:buFont typeface="Arial"/>
              <a:buChar char="•"/>
            </a:pPr>
            <a:r>
              <a:rPr lang="en-US" sz="2388">
                <a:solidFill>
                  <a:srgbClr val="005380"/>
                </a:solidFill>
                <a:latin typeface="Agrandir"/>
                <a:ea typeface="Agrandir"/>
                <a:cs typeface="Agrandir"/>
                <a:sym typeface="Agrandir"/>
              </a:rPr>
              <a:t>Mengurangi duplikasi data serta meningkatkan konsistensi melalui normalisasi database.</a:t>
            </a:r>
          </a:p>
          <a:p>
            <a:pPr algn="just" marL="515667" indent="-257833" lvl="1">
              <a:lnSpc>
                <a:spcPts val="3343"/>
              </a:lnSpc>
              <a:buFont typeface="Arial"/>
              <a:buChar char="•"/>
            </a:pPr>
            <a:r>
              <a:rPr lang="en-US" sz="2388">
                <a:solidFill>
                  <a:srgbClr val="005380"/>
                </a:solidFill>
                <a:latin typeface="Agrandir"/>
                <a:ea typeface="Agrandir"/>
                <a:cs typeface="Agrandir"/>
                <a:sym typeface="Agrandir"/>
              </a:rPr>
              <a:t>Menyediakan informasi inventaris yang akurat sebagai dasar pengelolaan dan pengambilan keputusan di laboratorium.</a:t>
            </a:r>
          </a:p>
          <a:p>
            <a:pPr algn="just" marL="0" indent="0" lvl="1">
              <a:lnSpc>
                <a:spcPts val="334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070322" y="7313188"/>
            <a:ext cx="5012156" cy="5012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8" id="8"/>
          <p:cNvGrpSpPr/>
          <p:nvPr/>
        </p:nvGrpSpPr>
        <p:grpSpPr>
          <a:xfrm rot="0">
            <a:off x="16233274" y="-2976237"/>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11" id="11"/>
          <p:cNvSpPr txBox="true"/>
          <p:nvPr/>
        </p:nvSpPr>
        <p:spPr>
          <a:xfrm rot="0">
            <a:off x="2050253" y="2742564"/>
            <a:ext cx="14859706" cy="488950"/>
          </a:xfrm>
          <a:prstGeom prst="rect">
            <a:avLst/>
          </a:prstGeom>
        </p:spPr>
        <p:txBody>
          <a:bodyPr anchor="t" rtlCol="false" tIns="0" lIns="0" bIns="0" rIns="0">
            <a:spAutoFit/>
          </a:bodyPr>
          <a:lstStyle/>
          <a:p>
            <a:pPr algn="just" marL="0" indent="0" lvl="0">
              <a:lnSpc>
                <a:spcPts val="3499"/>
              </a:lnSpc>
              <a:spcBef>
                <a:spcPct val="0"/>
              </a:spcBef>
            </a:pPr>
            <a:r>
              <a:rPr lang="en-US" b="true" sz="2499">
                <a:solidFill>
                  <a:srgbClr val="005380"/>
                </a:solidFill>
                <a:latin typeface="Agrandir Bold"/>
                <a:ea typeface="Agrandir Bold"/>
                <a:cs typeface="Agrandir Bold"/>
                <a:sym typeface="Agrandir Bold"/>
              </a:rPr>
              <a:t>1. Basis Data (Database)</a:t>
            </a:r>
          </a:p>
        </p:txBody>
      </p:sp>
      <p:sp>
        <p:nvSpPr>
          <p:cNvPr name="TextBox 12" id="12"/>
          <p:cNvSpPr txBox="true"/>
          <p:nvPr/>
        </p:nvSpPr>
        <p:spPr>
          <a:xfrm rot="0">
            <a:off x="2050253" y="1497150"/>
            <a:ext cx="8801535" cy="1194763"/>
          </a:xfrm>
          <a:prstGeom prst="rect">
            <a:avLst/>
          </a:prstGeom>
        </p:spPr>
        <p:txBody>
          <a:bodyPr anchor="t" rtlCol="false" tIns="0" lIns="0" bIns="0" rIns="0">
            <a:spAutoFit/>
          </a:bodyPr>
          <a:lstStyle/>
          <a:p>
            <a:pPr algn="l">
              <a:lnSpc>
                <a:spcPts val="7744"/>
              </a:lnSpc>
            </a:pPr>
            <a:r>
              <a:rPr lang="en-US" b="true" sz="6792">
                <a:solidFill>
                  <a:srgbClr val="005380"/>
                </a:solidFill>
                <a:latin typeface="Agrandir Bold"/>
                <a:ea typeface="Agrandir Bold"/>
                <a:cs typeface="Agrandir Bold"/>
                <a:sym typeface="Agrandir Bold"/>
              </a:rPr>
              <a:t>LANDASAN TEORI</a:t>
            </a:r>
          </a:p>
        </p:txBody>
      </p:sp>
      <p:sp>
        <p:nvSpPr>
          <p:cNvPr name="Freeform 13" id="13"/>
          <p:cNvSpPr/>
          <p:nvPr/>
        </p:nvSpPr>
        <p:spPr>
          <a:xfrm flipH="false" flipV="false" rot="10733209">
            <a:off x="700793" y="1540849"/>
            <a:ext cx="1229153" cy="1235894"/>
          </a:xfrm>
          <a:custGeom>
            <a:avLst/>
            <a:gdLst/>
            <a:ahLst/>
            <a:cxnLst/>
            <a:rect r="r" b="b" t="t" l="l"/>
            <a:pathLst>
              <a:path h="1235894" w="1229153">
                <a:moveTo>
                  <a:pt x="0" y="0"/>
                </a:moveTo>
                <a:lnTo>
                  <a:pt x="1229152" y="0"/>
                </a:lnTo>
                <a:lnTo>
                  <a:pt x="1229152" y="1235894"/>
                </a:lnTo>
                <a:lnTo>
                  <a:pt x="0" y="12358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2425850" y="3145789"/>
            <a:ext cx="14221777" cy="668655"/>
          </a:xfrm>
          <a:prstGeom prst="rect">
            <a:avLst/>
          </a:prstGeom>
        </p:spPr>
        <p:txBody>
          <a:bodyPr anchor="t" rtlCol="false" tIns="0" lIns="0" bIns="0" rIns="0">
            <a:spAutoFit/>
          </a:bodyPr>
          <a:lstStyle/>
          <a:p>
            <a:pPr algn="just">
              <a:lnSpc>
                <a:spcPts val="2520"/>
              </a:lnSpc>
            </a:pPr>
            <a:r>
              <a:rPr lang="en-US" sz="1800" b="true">
                <a:solidFill>
                  <a:srgbClr val="005380"/>
                </a:solidFill>
                <a:latin typeface="Agrandir Medium"/>
                <a:ea typeface="Agrandir Medium"/>
                <a:cs typeface="Agrandir Medium"/>
                <a:sym typeface="Agrandir Medium"/>
              </a:rPr>
              <a:t>Basis data adalah kumpulan data yang saling berhubungan dan disimpan secara terstruktur sehingga mudah diakses, dikelola, </a:t>
            </a:r>
          </a:p>
          <a:p>
            <a:pPr algn="just">
              <a:lnSpc>
                <a:spcPts val="2520"/>
              </a:lnSpc>
              <a:spcBef>
                <a:spcPct val="0"/>
              </a:spcBef>
            </a:pPr>
            <a:r>
              <a:rPr lang="en-US" b="true" sz="1800">
                <a:solidFill>
                  <a:srgbClr val="005380"/>
                </a:solidFill>
                <a:latin typeface="Agrandir Medium"/>
                <a:ea typeface="Agrandir Medium"/>
                <a:cs typeface="Agrandir Medium"/>
                <a:sym typeface="Agrandir Medium"/>
              </a:rPr>
              <a:t>dan diperbarui. Dalam penelitian ini, basis data digunakan untuk menyimpan seluruh data inventaris laboratorium secara terpusat. </a:t>
            </a:r>
          </a:p>
        </p:txBody>
      </p:sp>
      <p:sp>
        <p:nvSpPr>
          <p:cNvPr name="TextBox 15" id="15"/>
          <p:cNvSpPr txBox="true"/>
          <p:nvPr/>
        </p:nvSpPr>
        <p:spPr>
          <a:xfrm rot="0">
            <a:off x="2156040" y="3959224"/>
            <a:ext cx="5562719" cy="488950"/>
          </a:xfrm>
          <a:prstGeom prst="rect">
            <a:avLst/>
          </a:prstGeom>
        </p:spPr>
        <p:txBody>
          <a:bodyPr anchor="t" rtlCol="false" tIns="0" lIns="0" bIns="0" rIns="0">
            <a:spAutoFit/>
          </a:bodyPr>
          <a:lstStyle/>
          <a:p>
            <a:pPr algn="ctr">
              <a:lnSpc>
                <a:spcPts val="3499"/>
              </a:lnSpc>
              <a:spcBef>
                <a:spcPct val="0"/>
              </a:spcBef>
            </a:pPr>
            <a:r>
              <a:rPr lang="en-US" b="true" sz="2499">
                <a:solidFill>
                  <a:srgbClr val="005380"/>
                </a:solidFill>
                <a:latin typeface="Agrandir Bold"/>
                <a:ea typeface="Agrandir Bold"/>
                <a:cs typeface="Agrandir Bold"/>
                <a:sym typeface="Agrandir Bold"/>
              </a:rPr>
              <a:t>2. Entity Relationship Diagram (ERD)</a:t>
            </a:r>
          </a:p>
        </p:txBody>
      </p:sp>
      <p:sp>
        <p:nvSpPr>
          <p:cNvPr name="TextBox 16" id="16"/>
          <p:cNvSpPr txBox="true"/>
          <p:nvPr/>
        </p:nvSpPr>
        <p:spPr>
          <a:xfrm rot="0">
            <a:off x="2425850" y="4320117"/>
            <a:ext cx="14221777" cy="668655"/>
          </a:xfrm>
          <a:prstGeom prst="rect">
            <a:avLst/>
          </a:prstGeom>
        </p:spPr>
        <p:txBody>
          <a:bodyPr anchor="t" rtlCol="false" tIns="0" lIns="0" bIns="0" rIns="0">
            <a:spAutoFit/>
          </a:bodyPr>
          <a:lstStyle/>
          <a:p>
            <a:pPr algn="just">
              <a:lnSpc>
                <a:spcPts val="2520"/>
              </a:lnSpc>
              <a:spcBef>
                <a:spcPct val="0"/>
              </a:spcBef>
            </a:pPr>
            <a:r>
              <a:rPr lang="en-US" b="true" sz="1800">
                <a:solidFill>
                  <a:srgbClr val="005380"/>
                </a:solidFill>
                <a:latin typeface="Agrandir Medium"/>
                <a:ea typeface="Agrandir Medium"/>
                <a:cs typeface="Agrandir Medium"/>
                <a:sym typeface="Agrandir Medium"/>
              </a:rPr>
              <a:t>ERD merupakan diagram yang digunakan untuk menggambarkan hubungan antar entitas dalam sebuah sistem basis data. ERD membantu proses perancangan database agar relasi antar tabel menjadi jelas dan terstruktur.</a:t>
            </a:r>
          </a:p>
        </p:txBody>
      </p:sp>
      <p:sp>
        <p:nvSpPr>
          <p:cNvPr name="TextBox 17" id="17"/>
          <p:cNvSpPr txBox="true"/>
          <p:nvPr/>
        </p:nvSpPr>
        <p:spPr>
          <a:xfrm rot="0">
            <a:off x="2042633" y="4969722"/>
            <a:ext cx="2193012" cy="488950"/>
          </a:xfrm>
          <a:prstGeom prst="rect">
            <a:avLst/>
          </a:prstGeom>
        </p:spPr>
        <p:txBody>
          <a:bodyPr anchor="t" rtlCol="false" tIns="0" lIns="0" bIns="0" rIns="0">
            <a:spAutoFit/>
          </a:bodyPr>
          <a:lstStyle/>
          <a:p>
            <a:pPr algn="ctr">
              <a:lnSpc>
                <a:spcPts val="3499"/>
              </a:lnSpc>
              <a:spcBef>
                <a:spcPct val="0"/>
              </a:spcBef>
            </a:pPr>
            <a:r>
              <a:rPr lang="en-US" b="true" sz="2499">
                <a:solidFill>
                  <a:srgbClr val="005380"/>
                </a:solidFill>
                <a:latin typeface="Agrandir Bold"/>
                <a:ea typeface="Agrandir Bold"/>
                <a:cs typeface="Agrandir Bold"/>
                <a:sym typeface="Agrandir Bold"/>
              </a:rPr>
              <a:t>3. Normalisasi</a:t>
            </a:r>
          </a:p>
        </p:txBody>
      </p:sp>
      <p:sp>
        <p:nvSpPr>
          <p:cNvPr name="TextBox 18" id="18"/>
          <p:cNvSpPr txBox="true"/>
          <p:nvPr/>
        </p:nvSpPr>
        <p:spPr>
          <a:xfrm rot="0">
            <a:off x="2425850" y="5389670"/>
            <a:ext cx="14335044" cy="668655"/>
          </a:xfrm>
          <a:prstGeom prst="rect">
            <a:avLst/>
          </a:prstGeom>
        </p:spPr>
        <p:txBody>
          <a:bodyPr anchor="t" rtlCol="false" tIns="0" lIns="0" bIns="0" rIns="0">
            <a:spAutoFit/>
          </a:bodyPr>
          <a:lstStyle/>
          <a:p>
            <a:pPr algn="just">
              <a:lnSpc>
                <a:spcPts val="2520"/>
              </a:lnSpc>
            </a:pPr>
            <a:r>
              <a:rPr lang="en-US" sz="1800" b="true">
                <a:solidFill>
                  <a:srgbClr val="005380"/>
                </a:solidFill>
                <a:latin typeface="Agrandir Medium"/>
                <a:ea typeface="Agrandir Medium"/>
                <a:cs typeface="Agrandir Medium"/>
                <a:sym typeface="Agrandir Medium"/>
              </a:rPr>
              <a:t>Normalisasi adalah proses mengorganisasi data untuk mengurangi redundansi dan meningkatkan konsistensi data. </a:t>
            </a:r>
          </a:p>
          <a:p>
            <a:pPr algn="just">
              <a:lnSpc>
                <a:spcPts val="2520"/>
              </a:lnSpc>
              <a:spcBef>
                <a:spcPct val="0"/>
              </a:spcBef>
            </a:pPr>
            <a:r>
              <a:rPr lang="en-US" b="true" sz="1800">
                <a:solidFill>
                  <a:srgbClr val="005380"/>
                </a:solidFill>
                <a:latin typeface="Agrandir Medium"/>
                <a:ea typeface="Agrandir Medium"/>
                <a:cs typeface="Agrandir Medium"/>
                <a:sym typeface="Agrandir Medium"/>
              </a:rPr>
              <a:t>Pada penelitian ini digunakan normalisasi hingga Third Normal Form (3NF) sehingga struktur database menjadi lebih efisien.</a:t>
            </a:r>
          </a:p>
        </p:txBody>
      </p:sp>
      <p:sp>
        <p:nvSpPr>
          <p:cNvPr name="TextBox 19" id="19"/>
          <p:cNvSpPr txBox="true"/>
          <p:nvPr/>
        </p:nvSpPr>
        <p:spPr>
          <a:xfrm rot="0">
            <a:off x="2151039" y="6105950"/>
            <a:ext cx="5487114" cy="488950"/>
          </a:xfrm>
          <a:prstGeom prst="rect">
            <a:avLst/>
          </a:prstGeom>
        </p:spPr>
        <p:txBody>
          <a:bodyPr anchor="t" rtlCol="false" tIns="0" lIns="0" bIns="0" rIns="0">
            <a:spAutoFit/>
          </a:bodyPr>
          <a:lstStyle/>
          <a:p>
            <a:pPr algn="ctr">
              <a:lnSpc>
                <a:spcPts val="3499"/>
              </a:lnSpc>
              <a:spcBef>
                <a:spcPct val="0"/>
              </a:spcBef>
            </a:pPr>
            <a:r>
              <a:rPr lang="en-US" b="true" sz="2499">
                <a:solidFill>
                  <a:srgbClr val="005380"/>
                </a:solidFill>
                <a:latin typeface="Agrandir Medium"/>
                <a:ea typeface="Agrandir Medium"/>
                <a:cs typeface="Agrandir Medium"/>
                <a:sym typeface="Agrandir Medium"/>
              </a:rPr>
              <a:t>4. SQL (Structured Query Language)</a:t>
            </a:r>
          </a:p>
        </p:txBody>
      </p:sp>
      <p:sp>
        <p:nvSpPr>
          <p:cNvPr name="TextBox 20" id="20"/>
          <p:cNvSpPr txBox="true"/>
          <p:nvPr/>
        </p:nvSpPr>
        <p:spPr>
          <a:xfrm rot="0">
            <a:off x="2425850" y="6592573"/>
            <a:ext cx="14335044" cy="668655"/>
          </a:xfrm>
          <a:prstGeom prst="rect">
            <a:avLst/>
          </a:prstGeom>
        </p:spPr>
        <p:txBody>
          <a:bodyPr anchor="t" rtlCol="false" tIns="0" lIns="0" bIns="0" rIns="0">
            <a:spAutoFit/>
          </a:bodyPr>
          <a:lstStyle/>
          <a:p>
            <a:pPr algn="just">
              <a:lnSpc>
                <a:spcPts val="2520"/>
              </a:lnSpc>
              <a:spcBef>
                <a:spcPct val="0"/>
              </a:spcBef>
            </a:pPr>
            <a:r>
              <a:rPr lang="en-US" b="true" sz="1800">
                <a:solidFill>
                  <a:srgbClr val="005380"/>
                </a:solidFill>
                <a:latin typeface="Agrandir Medium"/>
                <a:ea typeface="Agrandir Medium"/>
                <a:cs typeface="Agrandir Medium"/>
                <a:sym typeface="Agrandir Medium"/>
              </a:rPr>
              <a:t>SQL adalah bahasa standar yang digunakan untuk mengelola database. SQL digunakan untuk membuat tabel (DDL), mengelola data (DML), dan menampilkan data (DQL) dalam sistem inventori laboratorium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6869917" y="1746477"/>
            <a:ext cx="9596340" cy="2718013"/>
            <a:chOff x="0" y="0"/>
            <a:chExt cx="1972925" cy="558800"/>
          </a:xfrm>
        </p:grpSpPr>
        <p:sp>
          <p:nvSpPr>
            <p:cNvPr name="Freeform 4" id="4"/>
            <p:cNvSpPr/>
            <p:nvPr/>
          </p:nvSpPr>
          <p:spPr>
            <a:xfrm flipH="false" flipV="false" rot="0">
              <a:off x="0" y="0"/>
              <a:ext cx="1972925" cy="558800"/>
            </a:xfrm>
            <a:custGeom>
              <a:avLst/>
              <a:gdLst/>
              <a:ahLst/>
              <a:cxnLst/>
              <a:rect r="r" b="b" t="t" l="l"/>
              <a:pathLst>
                <a:path h="558800" w="1972925">
                  <a:moveTo>
                    <a:pt x="1769725" y="0"/>
                  </a:moveTo>
                  <a:cubicBezTo>
                    <a:pt x="1880215" y="6350"/>
                    <a:pt x="1967845" y="93980"/>
                    <a:pt x="1972925" y="203200"/>
                  </a:cubicBezTo>
                  <a:lnTo>
                    <a:pt x="1972925" y="259080"/>
                  </a:lnTo>
                  <a:cubicBezTo>
                    <a:pt x="1967845" y="367030"/>
                    <a:pt x="1880215" y="454660"/>
                    <a:pt x="1772265" y="454660"/>
                  </a:cubicBezTo>
                  <a:lnTo>
                    <a:pt x="274320" y="454660"/>
                  </a:lnTo>
                  <a:cubicBezTo>
                    <a:pt x="245110" y="488950"/>
                    <a:pt x="213360" y="519430"/>
                    <a:pt x="176530" y="544830"/>
                  </a:cubicBezTo>
                  <a:lnTo>
                    <a:pt x="152400" y="558800"/>
                  </a:lnTo>
                  <a:cubicBezTo>
                    <a:pt x="139700" y="558800"/>
                    <a:pt x="137160" y="551180"/>
                    <a:pt x="140970" y="538480"/>
                  </a:cubicBezTo>
                  <a:cubicBezTo>
                    <a:pt x="149860" y="510540"/>
                    <a:pt x="148590" y="481330"/>
                    <a:pt x="138430" y="454660"/>
                  </a:cubicBezTo>
                  <a:lnTo>
                    <a:pt x="134620" y="443230"/>
                  </a:lnTo>
                  <a:cubicBezTo>
                    <a:pt x="57150" y="417830"/>
                    <a:pt x="1270" y="344170"/>
                    <a:pt x="0" y="259080"/>
                  </a:cubicBezTo>
                  <a:lnTo>
                    <a:pt x="0" y="201930"/>
                  </a:lnTo>
                  <a:cubicBezTo>
                    <a:pt x="0" y="93980"/>
                    <a:pt x="88900" y="6350"/>
                    <a:pt x="203200" y="0"/>
                  </a:cubicBezTo>
                  <a:lnTo>
                    <a:pt x="1772265" y="0"/>
                  </a:lnTo>
                  <a:close/>
                </a:path>
              </a:pathLst>
            </a:custGeom>
            <a:solidFill>
              <a:srgbClr val="005380"/>
            </a:solidFill>
          </p:spPr>
        </p:sp>
        <p:sp>
          <p:nvSpPr>
            <p:cNvPr name="TextBox 5" id="5"/>
            <p:cNvSpPr txBox="true"/>
            <p:nvPr/>
          </p:nvSpPr>
          <p:spPr>
            <a:xfrm>
              <a:off x="107950" y="-123825"/>
              <a:ext cx="1757025" cy="568325"/>
            </a:xfrm>
            <a:prstGeom prst="rect">
              <a:avLst/>
            </a:prstGeom>
          </p:spPr>
          <p:txBody>
            <a:bodyPr anchor="ctr" rtlCol="false" tIns="50800" lIns="50800" bIns="50800" rIns="50800"/>
            <a:lstStyle/>
            <a:p>
              <a:pPr algn="ctr">
                <a:lnSpc>
                  <a:spcPts val="3628"/>
                </a:lnSpc>
              </a:pPr>
            </a:p>
          </p:txBody>
        </p:sp>
      </p:grpSp>
      <p:grpSp>
        <p:nvGrpSpPr>
          <p:cNvPr name="Group 6" id="6"/>
          <p:cNvGrpSpPr/>
          <p:nvPr/>
        </p:nvGrpSpPr>
        <p:grpSpPr>
          <a:xfrm rot="0">
            <a:off x="6869917" y="3858915"/>
            <a:ext cx="9596340" cy="2718013"/>
            <a:chOff x="0" y="0"/>
            <a:chExt cx="1972925" cy="558800"/>
          </a:xfrm>
        </p:grpSpPr>
        <p:sp>
          <p:nvSpPr>
            <p:cNvPr name="Freeform 7" id="7"/>
            <p:cNvSpPr/>
            <p:nvPr/>
          </p:nvSpPr>
          <p:spPr>
            <a:xfrm flipH="false" flipV="false" rot="0">
              <a:off x="0" y="0"/>
              <a:ext cx="1972925" cy="558800"/>
            </a:xfrm>
            <a:custGeom>
              <a:avLst/>
              <a:gdLst/>
              <a:ahLst/>
              <a:cxnLst/>
              <a:rect r="r" b="b" t="t" l="l"/>
              <a:pathLst>
                <a:path h="558800" w="1972925">
                  <a:moveTo>
                    <a:pt x="1769725" y="0"/>
                  </a:moveTo>
                  <a:cubicBezTo>
                    <a:pt x="1880215" y="6350"/>
                    <a:pt x="1967845" y="93980"/>
                    <a:pt x="1972925" y="203200"/>
                  </a:cubicBezTo>
                  <a:lnTo>
                    <a:pt x="1972925" y="259080"/>
                  </a:lnTo>
                  <a:cubicBezTo>
                    <a:pt x="1967845" y="367030"/>
                    <a:pt x="1880215" y="454660"/>
                    <a:pt x="1772265" y="454660"/>
                  </a:cubicBezTo>
                  <a:lnTo>
                    <a:pt x="274320" y="454660"/>
                  </a:lnTo>
                  <a:cubicBezTo>
                    <a:pt x="245110" y="488950"/>
                    <a:pt x="213360" y="519430"/>
                    <a:pt x="176530" y="544830"/>
                  </a:cubicBezTo>
                  <a:lnTo>
                    <a:pt x="152400" y="558800"/>
                  </a:lnTo>
                  <a:cubicBezTo>
                    <a:pt x="139700" y="558800"/>
                    <a:pt x="137160" y="551180"/>
                    <a:pt x="140970" y="538480"/>
                  </a:cubicBezTo>
                  <a:cubicBezTo>
                    <a:pt x="149860" y="510540"/>
                    <a:pt x="148590" y="481330"/>
                    <a:pt x="138430" y="454660"/>
                  </a:cubicBezTo>
                  <a:lnTo>
                    <a:pt x="134620" y="443230"/>
                  </a:lnTo>
                  <a:cubicBezTo>
                    <a:pt x="57150" y="417830"/>
                    <a:pt x="1270" y="344170"/>
                    <a:pt x="0" y="259080"/>
                  </a:cubicBezTo>
                  <a:lnTo>
                    <a:pt x="0" y="201930"/>
                  </a:lnTo>
                  <a:cubicBezTo>
                    <a:pt x="0" y="93980"/>
                    <a:pt x="88900" y="6350"/>
                    <a:pt x="203200" y="0"/>
                  </a:cubicBezTo>
                  <a:lnTo>
                    <a:pt x="1772265" y="0"/>
                  </a:lnTo>
                  <a:close/>
                </a:path>
              </a:pathLst>
            </a:custGeom>
            <a:solidFill>
              <a:srgbClr val="00C2E4"/>
            </a:solidFill>
          </p:spPr>
        </p:sp>
        <p:sp>
          <p:nvSpPr>
            <p:cNvPr name="TextBox 8" id="8"/>
            <p:cNvSpPr txBox="true"/>
            <p:nvPr/>
          </p:nvSpPr>
          <p:spPr>
            <a:xfrm>
              <a:off x="107950" y="-123825"/>
              <a:ext cx="1757025" cy="568325"/>
            </a:xfrm>
            <a:prstGeom prst="rect">
              <a:avLst/>
            </a:prstGeom>
          </p:spPr>
          <p:txBody>
            <a:bodyPr anchor="ctr" rtlCol="false" tIns="50800" lIns="50800" bIns="50800" rIns="50800"/>
            <a:lstStyle/>
            <a:p>
              <a:pPr algn="ctr">
                <a:lnSpc>
                  <a:spcPts val="3628"/>
                </a:lnSpc>
              </a:pPr>
            </a:p>
          </p:txBody>
        </p:sp>
      </p:grpSp>
      <p:grpSp>
        <p:nvGrpSpPr>
          <p:cNvPr name="Group 9" id="9"/>
          <p:cNvGrpSpPr/>
          <p:nvPr/>
        </p:nvGrpSpPr>
        <p:grpSpPr>
          <a:xfrm rot="0">
            <a:off x="7053691" y="5822510"/>
            <a:ext cx="9412567" cy="2718013"/>
            <a:chOff x="0" y="0"/>
            <a:chExt cx="1935143" cy="558800"/>
          </a:xfrm>
        </p:grpSpPr>
        <p:sp>
          <p:nvSpPr>
            <p:cNvPr name="Freeform 10" id="10"/>
            <p:cNvSpPr/>
            <p:nvPr/>
          </p:nvSpPr>
          <p:spPr>
            <a:xfrm flipH="false" flipV="false" rot="0">
              <a:off x="0" y="0"/>
              <a:ext cx="1935143" cy="558800"/>
            </a:xfrm>
            <a:custGeom>
              <a:avLst/>
              <a:gdLst/>
              <a:ahLst/>
              <a:cxnLst/>
              <a:rect r="r" b="b" t="t" l="l"/>
              <a:pathLst>
                <a:path h="558800" w="1935143">
                  <a:moveTo>
                    <a:pt x="1731943" y="0"/>
                  </a:moveTo>
                  <a:cubicBezTo>
                    <a:pt x="1842433" y="6350"/>
                    <a:pt x="1930063" y="93980"/>
                    <a:pt x="1935143" y="203200"/>
                  </a:cubicBezTo>
                  <a:lnTo>
                    <a:pt x="1935143" y="259080"/>
                  </a:lnTo>
                  <a:cubicBezTo>
                    <a:pt x="1930063" y="367030"/>
                    <a:pt x="1842433" y="454660"/>
                    <a:pt x="1734483" y="454660"/>
                  </a:cubicBezTo>
                  <a:lnTo>
                    <a:pt x="274320" y="454660"/>
                  </a:lnTo>
                  <a:cubicBezTo>
                    <a:pt x="245110" y="488950"/>
                    <a:pt x="213360" y="519430"/>
                    <a:pt x="176530" y="544830"/>
                  </a:cubicBezTo>
                  <a:lnTo>
                    <a:pt x="152400" y="558800"/>
                  </a:lnTo>
                  <a:cubicBezTo>
                    <a:pt x="139700" y="558800"/>
                    <a:pt x="137160" y="551180"/>
                    <a:pt x="140970" y="538480"/>
                  </a:cubicBezTo>
                  <a:cubicBezTo>
                    <a:pt x="149860" y="510540"/>
                    <a:pt x="148590" y="481330"/>
                    <a:pt x="138430" y="454660"/>
                  </a:cubicBezTo>
                  <a:lnTo>
                    <a:pt x="134620" y="443230"/>
                  </a:lnTo>
                  <a:cubicBezTo>
                    <a:pt x="57150" y="417830"/>
                    <a:pt x="1270" y="344170"/>
                    <a:pt x="0" y="259080"/>
                  </a:cubicBezTo>
                  <a:lnTo>
                    <a:pt x="0" y="201930"/>
                  </a:lnTo>
                  <a:cubicBezTo>
                    <a:pt x="0" y="93980"/>
                    <a:pt x="88900" y="6350"/>
                    <a:pt x="203200" y="0"/>
                  </a:cubicBezTo>
                  <a:lnTo>
                    <a:pt x="1734483" y="0"/>
                  </a:lnTo>
                  <a:close/>
                </a:path>
              </a:pathLst>
            </a:custGeom>
            <a:solidFill>
              <a:srgbClr val="005380"/>
            </a:solidFill>
          </p:spPr>
        </p:sp>
        <p:sp>
          <p:nvSpPr>
            <p:cNvPr name="TextBox 11" id="11"/>
            <p:cNvSpPr txBox="true"/>
            <p:nvPr/>
          </p:nvSpPr>
          <p:spPr>
            <a:xfrm>
              <a:off x="107950" y="-123825"/>
              <a:ext cx="1719243" cy="568325"/>
            </a:xfrm>
            <a:prstGeom prst="rect">
              <a:avLst/>
            </a:prstGeom>
          </p:spPr>
          <p:txBody>
            <a:bodyPr anchor="ctr" rtlCol="false" tIns="50800" lIns="50800" bIns="50800" rIns="50800"/>
            <a:lstStyle/>
            <a:p>
              <a:pPr algn="ctr">
                <a:lnSpc>
                  <a:spcPts val="3628"/>
                </a:lnSpc>
              </a:pPr>
            </a:p>
          </p:txBody>
        </p:sp>
      </p:grpSp>
      <p:sp>
        <p:nvSpPr>
          <p:cNvPr name="Freeform 12" id="12"/>
          <p:cNvSpPr/>
          <p:nvPr/>
        </p:nvSpPr>
        <p:spPr>
          <a:xfrm flipH="false" flipV="false" rot="0">
            <a:off x="-641042" y="7770128"/>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3070322" y="7313188"/>
            <a:ext cx="5012156" cy="501215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6" id="16"/>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17" id="17"/>
          <p:cNvGrpSpPr/>
          <p:nvPr/>
        </p:nvGrpSpPr>
        <p:grpSpPr>
          <a:xfrm rot="0">
            <a:off x="16233274" y="-2976237"/>
            <a:ext cx="5012156" cy="501215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9" id="19"/>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20" id="20"/>
          <p:cNvSpPr txBox="true"/>
          <p:nvPr/>
        </p:nvSpPr>
        <p:spPr>
          <a:xfrm rot="0">
            <a:off x="7247496" y="1830432"/>
            <a:ext cx="8906023" cy="2196025"/>
          </a:xfrm>
          <a:prstGeom prst="rect">
            <a:avLst/>
          </a:prstGeom>
        </p:spPr>
        <p:txBody>
          <a:bodyPr anchor="t" rtlCol="false" tIns="0" lIns="0" bIns="0" rIns="0">
            <a:spAutoFit/>
          </a:bodyPr>
          <a:lstStyle/>
          <a:p>
            <a:pPr algn="l" marL="448411" indent="-224205" lvl="1">
              <a:lnSpc>
                <a:spcPts val="2450"/>
              </a:lnSpc>
              <a:buFont typeface="Arial"/>
              <a:buChar char="•"/>
            </a:pPr>
            <a:r>
              <a:rPr lang="en-US" sz="2076">
                <a:solidFill>
                  <a:srgbClr val="FFFFFF"/>
                </a:solidFill>
                <a:latin typeface="Agrandir"/>
                <a:ea typeface="Agrandir"/>
                <a:cs typeface="Agrandir"/>
                <a:sym typeface="Agrandir"/>
              </a:rPr>
              <a:t>Administrator: Mengelola seluruh data inventaris, pengguna, dan laporan.</a:t>
            </a:r>
          </a:p>
          <a:p>
            <a:pPr algn="l" marL="448411" indent="-224205" lvl="1">
              <a:lnSpc>
                <a:spcPts val="2450"/>
              </a:lnSpc>
              <a:buFont typeface="Arial"/>
              <a:buChar char="•"/>
            </a:pPr>
            <a:r>
              <a:rPr lang="en-US" sz="2076">
                <a:solidFill>
                  <a:srgbClr val="FFFFFF"/>
                </a:solidFill>
                <a:latin typeface="Agrandir"/>
                <a:ea typeface="Agrandir"/>
                <a:cs typeface="Agrandir"/>
                <a:sym typeface="Agrandir"/>
              </a:rPr>
              <a:t>Laboran: Mengelola data barang, mencatat peminjaman dan pengembalian, serta memantau kondisi barang.</a:t>
            </a:r>
          </a:p>
          <a:p>
            <a:pPr algn="just" marL="448411" indent="-224205" lvl="1">
              <a:lnSpc>
                <a:spcPts val="2450"/>
              </a:lnSpc>
              <a:buFont typeface="Arial"/>
              <a:buChar char="•"/>
            </a:pPr>
            <a:r>
              <a:rPr lang="en-US" sz="2076">
                <a:solidFill>
                  <a:srgbClr val="FFFFFF"/>
                </a:solidFill>
                <a:latin typeface="Agrandir"/>
                <a:ea typeface="Agrandir"/>
                <a:cs typeface="Agrandir"/>
                <a:sym typeface="Agrandir"/>
              </a:rPr>
              <a:t>Mahasiswa: Melihat ketersediaan barang dan melakukan peminjaman alat laboratorium.</a:t>
            </a:r>
          </a:p>
          <a:p>
            <a:pPr algn="l" marL="0" indent="0" lvl="1">
              <a:lnSpc>
                <a:spcPts val="2450"/>
              </a:lnSpc>
              <a:spcBef>
                <a:spcPct val="0"/>
              </a:spcBef>
            </a:pPr>
          </a:p>
        </p:txBody>
      </p:sp>
      <p:sp>
        <p:nvSpPr>
          <p:cNvPr name="Freeform 21" id="21"/>
          <p:cNvSpPr/>
          <p:nvPr/>
        </p:nvSpPr>
        <p:spPr>
          <a:xfrm flipH="false" flipV="false" rot="10733209">
            <a:off x="506825" y="4477237"/>
            <a:ext cx="1325257" cy="1332525"/>
          </a:xfrm>
          <a:custGeom>
            <a:avLst/>
            <a:gdLst/>
            <a:ahLst/>
            <a:cxnLst/>
            <a:rect r="r" b="b" t="t" l="l"/>
            <a:pathLst>
              <a:path h="1332525" w="1325257">
                <a:moveTo>
                  <a:pt x="0" y="0"/>
                </a:moveTo>
                <a:lnTo>
                  <a:pt x="1325256" y="0"/>
                </a:lnTo>
                <a:lnTo>
                  <a:pt x="1325256" y="1332526"/>
                </a:lnTo>
                <a:lnTo>
                  <a:pt x="0" y="1332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1941835" y="3960784"/>
            <a:ext cx="6559935" cy="2342825"/>
          </a:xfrm>
          <a:prstGeom prst="rect">
            <a:avLst/>
          </a:prstGeom>
        </p:spPr>
        <p:txBody>
          <a:bodyPr anchor="t" rtlCol="false" tIns="0" lIns="0" bIns="0" rIns="0">
            <a:spAutoFit/>
          </a:bodyPr>
          <a:lstStyle/>
          <a:p>
            <a:pPr algn="l">
              <a:lnSpc>
                <a:spcPts val="8349"/>
              </a:lnSpc>
            </a:pPr>
            <a:r>
              <a:rPr lang="en-US" b="true" sz="7324">
                <a:solidFill>
                  <a:srgbClr val="005380"/>
                </a:solidFill>
                <a:latin typeface="Agrandir Bold"/>
                <a:ea typeface="Agrandir Bold"/>
                <a:cs typeface="Agrandir Bold"/>
                <a:sym typeface="Agrandir Bold"/>
              </a:rPr>
              <a:t>ANALISIS SISTEM</a:t>
            </a:r>
          </a:p>
        </p:txBody>
      </p:sp>
      <p:sp>
        <p:nvSpPr>
          <p:cNvPr name="TextBox 23" id="23"/>
          <p:cNvSpPr txBox="true"/>
          <p:nvPr/>
        </p:nvSpPr>
        <p:spPr>
          <a:xfrm rot="0">
            <a:off x="7428425" y="1270400"/>
            <a:ext cx="4003858" cy="617182"/>
          </a:xfrm>
          <a:prstGeom prst="rect">
            <a:avLst/>
          </a:prstGeom>
        </p:spPr>
        <p:txBody>
          <a:bodyPr anchor="t" rtlCol="false" tIns="0" lIns="0" bIns="0" rIns="0">
            <a:spAutoFit/>
          </a:bodyPr>
          <a:lstStyle/>
          <a:p>
            <a:pPr algn="l">
              <a:lnSpc>
                <a:spcPts val="4331"/>
              </a:lnSpc>
              <a:spcBef>
                <a:spcPct val="0"/>
              </a:spcBef>
            </a:pPr>
            <a:r>
              <a:rPr lang="en-US" b="true" sz="3094">
                <a:solidFill>
                  <a:srgbClr val="005380"/>
                </a:solidFill>
                <a:latin typeface="Agrandir Bold"/>
                <a:ea typeface="Agrandir Bold"/>
                <a:cs typeface="Agrandir Bold"/>
                <a:sym typeface="Agrandir Bold"/>
              </a:rPr>
              <a:t>Identifikasi Aktor</a:t>
            </a:r>
          </a:p>
        </p:txBody>
      </p:sp>
      <p:sp>
        <p:nvSpPr>
          <p:cNvPr name="TextBox 24" id="24"/>
          <p:cNvSpPr txBox="true"/>
          <p:nvPr/>
        </p:nvSpPr>
        <p:spPr>
          <a:xfrm rot="0">
            <a:off x="7428425" y="3616793"/>
            <a:ext cx="6554047" cy="617182"/>
          </a:xfrm>
          <a:prstGeom prst="rect">
            <a:avLst/>
          </a:prstGeom>
        </p:spPr>
        <p:txBody>
          <a:bodyPr anchor="t" rtlCol="false" tIns="0" lIns="0" bIns="0" rIns="0">
            <a:spAutoFit/>
          </a:bodyPr>
          <a:lstStyle/>
          <a:p>
            <a:pPr algn="l" marL="0" indent="0" lvl="0">
              <a:lnSpc>
                <a:spcPts val="4331"/>
              </a:lnSpc>
              <a:spcBef>
                <a:spcPct val="0"/>
              </a:spcBef>
            </a:pPr>
            <a:r>
              <a:rPr lang="en-US" b="true" sz="3094">
                <a:solidFill>
                  <a:srgbClr val="005380"/>
                </a:solidFill>
                <a:latin typeface="Agrandir Bold"/>
                <a:ea typeface="Agrandir Bold"/>
                <a:cs typeface="Agrandir Bold"/>
                <a:sym typeface="Agrandir Bold"/>
              </a:rPr>
              <a:t>Kebutuhan Fungsional</a:t>
            </a:r>
          </a:p>
        </p:txBody>
      </p:sp>
      <p:sp>
        <p:nvSpPr>
          <p:cNvPr name="TextBox 25" id="25"/>
          <p:cNvSpPr txBox="true"/>
          <p:nvPr/>
        </p:nvSpPr>
        <p:spPr>
          <a:xfrm rot="0">
            <a:off x="7337965" y="4321708"/>
            <a:ext cx="8660246" cy="1586433"/>
          </a:xfrm>
          <a:prstGeom prst="rect">
            <a:avLst/>
          </a:prstGeom>
        </p:spPr>
        <p:txBody>
          <a:bodyPr anchor="t" rtlCol="false" tIns="0" lIns="0" bIns="0" rIns="0">
            <a:spAutoFit/>
          </a:bodyPr>
          <a:lstStyle/>
          <a:p>
            <a:pPr algn="l" marL="449071" indent="-224536" lvl="1">
              <a:lnSpc>
                <a:spcPts val="2454"/>
              </a:lnSpc>
              <a:buFont typeface="Arial"/>
              <a:buChar char="•"/>
            </a:pPr>
            <a:r>
              <a:rPr lang="en-US" sz="2079">
                <a:solidFill>
                  <a:srgbClr val="FFFFFF"/>
                </a:solidFill>
                <a:latin typeface="Agrandir"/>
                <a:ea typeface="Agrandir"/>
                <a:cs typeface="Agrandir"/>
                <a:sym typeface="Agrandir"/>
              </a:rPr>
              <a:t>Mengelola data inventaris (tambah, ubah, hapus, dan cari data).</a:t>
            </a:r>
          </a:p>
          <a:p>
            <a:pPr algn="l" marL="449071" indent="-224536" lvl="1">
              <a:lnSpc>
                <a:spcPts val="2454"/>
              </a:lnSpc>
              <a:buFont typeface="Arial"/>
              <a:buChar char="•"/>
            </a:pPr>
            <a:r>
              <a:rPr lang="en-US" sz="2079">
                <a:solidFill>
                  <a:srgbClr val="FFFFFF"/>
                </a:solidFill>
                <a:latin typeface="Agrandir"/>
                <a:ea typeface="Agrandir"/>
                <a:cs typeface="Agrandir"/>
                <a:sym typeface="Agrandir"/>
              </a:rPr>
              <a:t>Mencatat proses peminjaman dan pengembalian barang.</a:t>
            </a:r>
          </a:p>
          <a:p>
            <a:pPr algn="l" marL="449071" indent="-224536" lvl="1">
              <a:lnSpc>
                <a:spcPts val="2454"/>
              </a:lnSpc>
              <a:buFont typeface="Arial"/>
              <a:buChar char="•"/>
            </a:pPr>
            <a:r>
              <a:rPr lang="en-US" sz="2079">
                <a:solidFill>
                  <a:srgbClr val="FFFFFF"/>
                </a:solidFill>
                <a:latin typeface="Agrandir"/>
                <a:ea typeface="Agrandir"/>
                <a:cs typeface="Agrandir"/>
                <a:sym typeface="Agrandir"/>
              </a:rPr>
              <a:t>Memperbarui stok barang secara otomatis.</a:t>
            </a:r>
          </a:p>
          <a:p>
            <a:pPr algn="l" marL="449071" indent="-224536" lvl="1">
              <a:lnSpc>
                <a:spcPts val="2454"/>
              </a:lnSpc>
              <a:buFont typeface="Arial"/>
              <a:buChar char="•"/>
            </a:pPr>
            <a:r>
              <a:rPr lang="en-US" sz="2079">
                <a:solidFill>
                  <a:srgbClr val="FFFFFF"/>
                </a:solidFill>
                <a:latin typeface="Agrandir"/>
                <a:ea typeface="Agrandir"/>
                <a:cs typeface="Agrandir"/>
                <a:sym typeface="Agrandir"/>
              </a:rPr>
              <a:t>Menampilkan laporan inventaris dan riwayat transaksi.</a:t>
            </a:r>
          </a:p>
          <a:p>
            <a:pPr algn="l" marL="0" indent="0" lvl="1">
              <a:lnSpc>
                <a:spcPts val="2454"/>
              </a:lnSpc>
            </a:pPr>
          </a:p>
        </p:txBody>
      </p:sp>
      <p:sp>
        <p:nvSpPr>
          <p:cNvPr name="TextBox 26" id="26"/>
          <p:cNvSpPr txBox="true"/>
          <p:nvPr/>
        </p:nvSpPr>
        <p:spPr>
          <a:xfrm rot="0">
            <a:off x="7428425" y="5523351"/>
            <a:ext cx="6222173" cy="617182"/>
          </a:xfrm>
          <a:prstGeom prst="rect">
            <a:avLst/>
          </a:prstGeom>
        </p:spPr>
        <p:txBody>
          <a:bodyPr anchor="t" rtlCol="false" tIns="0" lIns="0" bIns="0" rIns="0">
            <a:spAutoFit/>
          </a:bodyPr>
          <a:lstStyle/>
          <a:p>
            <a:pPr algn="l" marL="0" indent="0" lvl="0">
              <a:lnSpc>
                <a:spcPts val="4331"/>
              </a:lnSpc>
              <a:spcBef>
                <a:spcPct val="0"/>
              </a:spcBef>
            </a:pPr>
            <a:r>
              <a:rPr lang="en-US" b="true" sz="3094">
                <a:solidFill>
                  <a:srgbClr val="005380"/>
                </a:solidFill>
                <a:latin typeface="Agrandir Bold"/>
                <a:ea typeface="Agrandir Bold"/>
                <a:cs typeface="Agrandir Bold"/>
                <a:sym typeface="Agrandir Bold"/>
              </a:rPr>
              <a:t>Kebutuhan Non-Fungsional</a:t>
            </a:r>
          </a:p>
        </p:txBody>
      </p:sp>
      <p:sp>
        <p:nvSpPr>
          <p:cNvPr name="TextBox 27" id="27"/>
          <p:cNvSpPr txBox="true"/>
          <p:nvPr/>
        </p:nvSpPr>
        <p:spPr>
          <a:xfrm rot="0">
            <a:off x="7368154" y="6186925"/>
            <a:ext cx="8128256" cy="4100075"/>
          </a:xfrm>
          <a:prstGeom prst="rect">
            <a:avLst/>
          </a:prstGeom>
        </p:spPr>
        <p:txBody>
          <a:bodyPr anchor="t" rtlCol="false" tIns="0" lIns="0" bIns="0" rIns="0">
            <a:spAutoFit/>
          </a:bodyPr>
          <a:lstStyle/>
          <a:p>
            <a:pPr algn="l" marL="449071" indent="-224536" lvl="1">
              <a:lnSpc>
                <a:spcPts val="2454"/>
              </a:lnSpc>
              <a:buFont typeface="Arial"/>
              <a:buChar char="•"/>
            </a:pPr>
            <a:r>
              <a:rPr lang="en-US" sz="2079">
                <a:solidFill>
                  <a:srgbClr val="FFFFFF"/>
                </a:solidFill>
                <a:latin typeface="Agrandir"/>
                <a:ea typeface="Agrandir"/>
                <a:cs typeface="Agrandir"/>
                <a:sym typeface="Agrandir"/>
              </a:rPr>
              <a:t>Sistem mudah digunakan (Usability).</a:t>
            </a:r>
          </a:p>
          <a:p>
            <a:pPr algn="l" marL="470888" indent="-235444" lvl="1">
              <a:lnSpc>
                <a:spcPts val="2573"/>
              </a:lnSpc>
              <a:buFont typeface="Arial"/>
              <a:buChar char="•"/>
            </a:pPr>
            <a:r>
              <a:rPr lang="en-US" sz="2181">
                <a:solidFill>
                  <a:srgbClr val="FFFFFF"/>
                </a:solidFill>
                <a:latin typeface="Agrandir"/>
                <a:ea typeface="Agrandir"/>
                <a:cs typeface="Agrandir"/>
                <a:sym typeface="Agrandir"/>
              </a:rPr>
              <a:t>Menjamin keamanan data (Security).</a:t>
            </a:r>
          </a:p>
          <a:p>
            <a:pPr algn="l" marL="470888" indent="-235444" lvl="1">
              <a:lnSpc>
                <a:spcPts val="2573"/>
              </a:lnSpc>
              <a:buFont typeface="Arial"/>
              <a:buChar char="•"/>
            </a:pPr>
            <a:r>
              <a:rPr lang="en-US" sz="2181">
                <a:solidFill>
                  <a:srgbClr val="FFFFFF"/>
                </a:solidFill>
                <a:latin typeface="Agrandir"/>
                <a:ea typeface="Agrandir"/>
                <a:cs typeface="Agrandir"/>
                <a:sym typeface="Agrandir"/>
              </a:rPr>
              <a:t>Menjaga keandalan dan konsistensi data (Reliability).</a:t>
            </a:r>
          </a:p>
          <a:p>
            <a:pPr algn="l" marL="470888" indent="-235444" lvl="1">
              <a:lnSpc>
                <a:spcPts val="2573"/>
              </a:lnSpc>
              <a:buFont typeface="Arial"/>
              <a:buChar char="•"/>
            </a:pPr>
            <a:r>
              <a:rPr lang="en-US" sz="2181">
                <a:solidFill>
                  <a:srgbClr val="FFFFFF"/>
                </a:solidFill>
                <a:latin typeface="Agrandir"/>
                <a:ea typeface="Agrandir"/>
                <a:cs typeface="Agrandir"/>
                <a:sym typeface="Agrandir"/>
              </a:rPr>
              <a:t>Memiliki kinerja yang cepat (Performance).</a:t>
            </a:r>
          </a:p>
          <a:p>
            <a:pPr algn="l" marL="449071" indent="-224536" lvl="1">
              <a:lnSpc>
                <a:spcPts val="2454"/>
              </a:lnSpc>
              <a:buFont typeface="Arial"/>
              <a:buChar char="•"/>
            </a:pPr>
            <a:r>
              <a:rPr lang="en-US" sz="2079">
                <a:solidFill>
                  <a:srgbClr val="FFFFFF"/>
                </a:solidFill>
                <a:latin typeface="Agrandir"/>
                <a:ea typeface="Agrandir"/>
                <a:cs typeface="Agrandir"/>
                <a:sym typeface="Agrandir"/>
              </a:rPr>
              <a:t>Mudah dipelihara dan dikembangkan (Maintainability).</a:t>
            </a:r>
          </a:p>
          <a:p>
            <a:pPr algn="l" marL="0" indent="0" lvl="1">
              <a:lnSpc>
                <a:spcPts val="1926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3070322" y="7313188"/>
            <a:ext cx="5012156" cy="50121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5" id="5"/>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6" id="6"/>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6233274" y="-2976237"/>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11" id="11"/>
          <p:cNvSpPr/>
          <p:nvPr/>
        </p:nvSpPr>
        <p:spPr>
          <a:xfrm flipH="false" flipV="false" rot="10733209">
            <a:off x="366072" y="1712063"/>
            <a:ext cx="1325257" cy="1332525"/>
          </a:xfrm>
          <a:custGeom>
            <a:avLst/>
            <a:gdLst/>
            <a:ahLst/>
            <a:cxnLst/>
            <a:rect r="r" b="b" t="t" l="l"/>
            <a:pathLst>
              <a:path h="1332525" w="1325257">
                <a:moveTo>
                  <a:pt x="0" y="0"/>
                </a:moveTo>
                <a:lnTo>
                  <a:pt x="1325256" y="0"/>
                </a:lnTo>
                <a:lnTo>
                  <a:pt x="1325256" y="1332525"/>
                </a:lnTo>
                <a:lnTo>
                  <a:pt x="0" y="1332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2034488" y="2881334"/>
            <a:ext cx="13604499" cy="1454696"/>
          </a:xfrm>
          <a:prstGeom prst="rect">
            <a:avLst/>
          </a:prstGeom>
        </p:spPr>
        <p:txBody>
          <a:bodyPr anchor="t" rtlCol="false" tIns="0" lIns="0" bIns="0" rIns="0">
            <a:spAutoFit/>
          </a:bodyPr>
          <a:lstStyle/>
          <a:p>
            <a:pPr algn="just">
              <a:lnSpc>
                <a:spcPts val="3004"/>
              </a:lnSpc>
            </a:pPr>
            <a:r>
              <a:rPr lang="en-US" sz="2146" b="true">
                <a:solidFill>
                  <a:srgbClr val="005380"/>
                </a:solidFill>
                <a:latin typeface="Agrandir Medium"/>
                <a:ea typeface="Agrandir Medium"/>
                <a:cs typeface="Agrandir Medium"/>
                <a:sym typeface="Agrandir Medium"/>
              </a:rPr>
              <a:t>ERD digunakan untuk menggambarkan hubungan antar entitas dalam Sistem Manajemen Inventori Laboratorium. Diagram ini menjadi dasar dalam perancangan struktur database agar data tersimpan secara terorganisir dan saling berhubungan.. </a:t>
            </a:r>
          </a:p>
          <a:p>
            <a:pPr algn="l">
              <a:lnSpc>
                <a:spcPts val="2086"/>
              </a:lnSpc>
              <a:spcBef>
                <a:spcPct val="0"/>
              </a:spcBef>
            </a:pPr>
          </a:p>
        </p:txBody>
      </p:sp>
      <p:sp>
        <p:nvSpPr>
          <p:cNvPr name="TextBox 13" id="13"/>
          <p:cNvSpPr txBox="true"/>
          <p:nvPr/>
        </p:nvSpPr>
        <p:spPr>
          <a:xfrm rot="0">
            <a:off x="1941835" y="1594540"/>
            <a:ext cx="8775289" cy="1403783"/>
          </a:xfrm>
          <a:prstGeom prst="rect">
            <a:avLst/>
          </a:prstGeom>
        </p:spPr>
        <p:txBody>
          <a:bodyPr anchor="t" rtlCol="false" tIns="0" lIns="0" bIns="0" rIns="0">
            <a:spAutoFit/>
          </a:bodyPr>
          <a:lstStyle/>
          <a:p>
            <a:pPr algn="l">
              <a:lnSpc>
                <a:spcPts val="4995"/>
              </a:lnSpc>
            </a:pPr>
            <a:r>
              <a:rPr lang="en-US" b="true" sz="4381">
                <a:solidFill>
                  <a:srgbClr val="005380"/>
                </a:solidFill>
                <a:latin typeface="Agrandir Bold"/>
                <a:ea typeface="Agrandir Bold"/>
                <a:cs typeface="Agrandir Bold"/>
                <a:sym typeface="Agrandir Bold"/>
              </a:rPr>
              <a:t>PERANCANGAN DATABASE (ERD &amp; RELASI)</a:t>
            </a:r>
          </a:p>
        </p:txBody>
      </p:sp>
      <p:sp>
        <p:nvSpPr>
          <p:cNvPr name="TextBox 14" id="14"/>
          <p:cNvSpPr txBox="true"/>
          <p:nvPr/>
        </p:nvSpPr>
        <p:spPr>
          <a:xfrm rot="0">
            <a:off x="1704147" y="4064527"/>
            <a:ext cx="6588063" cy="4407547"/>
          </a:xfrm>
          <a:prstGeom prst="rect">
            <a:avLst/>
          </a:prstGeom>
        </p:spPr>
        <p:txBody>
          <a:bodyPr anchor="t" rtlCol="false" tIns="0" lIns="0" bIns="0" rIns="0">
            <a:spAutoFit/>
          </a:bodyPr>
          <a:lstStyle/>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Kategori Barang → Barang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Kondisi Barang → Barang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Laboratorium → Barang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Mahasiswa → Peminjaman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Laboran → Peminjaman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Peminjaman → Detail Peminjaman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Barang → Detail Peminjaman (1:M)</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Peminjaman → Pengembalian (1:1)</a:t>
            </a:r>
          </a:p>
          <a:p>
            <a:pPr algn="l" marL="533091" indent="-266546" lvl="1">
              <a:lnSpc>
                <a:spcPts val="3456"/>
              </a:lnSpc>
              <a:buFont typeface="Arial"/>
              <a:buChar char="•"/>
            </a:pPr>
            <a:r>
              <a:rPr lang="en-US" b="true" sz="2469">
                <a:solidFill>
                  <a:srgbClr val="005380"/>
                </a:solidFill>
                <a:latin typeface="Agrandir Medium"/>
                <a:ea typeface="Agrandir Medium"/>
                <a:cs typeface="Agrandir Medium"/>
                <a:sym typeface="Agrandir Medium"/>
              </a:rPr>
              <a:t>Laboran → Pengguna (1:1)</a:t>
            </a:r>
          </a:p>
          <a:p>
            <a:pPr algn="l">
              <a:lnSpc>
                <a:spcPts val="345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070322" y="7313188"/>
            <a:ext cx="5012156" cy="5012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8" id="8"/>
          <p:cNvGrpSpPr/>
          <p:nvPr/>
        </p:nvGrpSpPr>
        <p:grpSpPr>
          <a:xfrm rot="0">
            <a:off x="16233274" y="-2976237"/>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Freeform 11" id="11"/>
          <p:cNvSpPr/>
          <p:nvPr/>
        </p:nvSpPr>
        <p:spPr>
          <a:xfrm flipH="false" flipV="false" rot="10733209">
            <a:off x="366072" y="1646795"/>
            <a:ext cx="1325257" cy="1332525"/>
          </a:xfrm>
          <a:custGeom>
            <a:avLst/>
            <a:gdLst/>
            <a:ahLst/>
            <a:cxnLst/>
            <a:rect r="r" b="b" t="t" l="l"/>
            <a:pathLst>
              <a:path h="1332525" w="1325257">
                <a:moveTo>
                  <a:pt x="0" y="0"/>
                </a:moveTo>
                <a:lnTo>
                  <a:pt x="1325256" y="0"/>
                </a:lnTo>
                <a:lnTo>
                  <a:pt x="1325256" y="1332526"/>
                </a:lnTo>
                <a:lnTo>
                  <a:pt x="0" y="1332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1441317" y="3532666"/>
            <a:ext cx="7001121" cy="5007052"/>
            <a:chOff x="0" y="0"/>
            <a:chExt cx="4150097" cy="2968060"/>
          </a:xfrm>
        </p:grpSpPr>
        <p:sp>
          <p:nvSpPr>
            <p:cNvPr name="Freeform 13" id="13"/>
            <p:cNvSpPr/>
            <p:nvPr/>
          </p:nvSpPr>
          <p:spPr>
            <a:xfrm flipH="false" flipV="false" rot="0">
              <a:off x="0" y="0"/>
              <a:ext cx="4150097" cy="2968060"/>
            </a:xfrm>
            <a:custGeom>
              <a:avLst/>
              <a:gdLst/>
              <a:ahLst/>
              <a:cxnLst/>
              <a:rect r="r" b="b" t="t" l="l"/>
              <a:pathLst>
                <a:path h="2968060" w="4150097">
                  <a:moveTo>
                    <a:pt x="56396" y="0"/>
                  </a:moveTo>
                  <a:lnTo>
                    <a:pt x="4093700" y="0"/>
                  </a:lnTo>
                  <a:cubicBezTo>
                    <a:pt x="4108658" y="0"/>
                    <a:pt x="4123002" y="5942"/>
                    <a:pt x="4133579" y="16518"/>
                  </a:cubicBezTo>
                  <a:cubicBezTo>
                    <a:pt x="4144155" y="27094"/>
                    <a:pt x="4150097" y="41439"/>
                    <a:pt x="4150097" y="56396"/>
                  </a:cubicBezTo>
                  <a:lnTo>
                    <a:pt x="4150097" y="2911664"/>
                  </a:lnTo>
                  <a:cubicBezTo>
                    <a:pt x="4150097" y="2926621"/>
                    <a:pt x="4144155" y="2940966"/>
                    <a:pt x="4133579" y="2951542"/>
                  </a:cubicBezTo>
                  <a:cubicBezTo>
                    <a:pt x="4123002" y="2962118"/>
                    <a:pt x="4108658" y="2968060"/>
                    <a:pt x="4093700" y="2968060"/>
                  </a:cubicBezTo>
                  <a:lnTo>
                    <a:pt x="56396" y="2968060"/>
                  </a:lnTo>
                  <a:cubicBezTo>
                    <a:pt x="41439" y="2968060"/>
                    <a:pt x="27094" y="2962118"/>
                    <a:pt x="16518" y="2951542"/>
                  </a:cubicBezTo>
                  <a:cubicBezTo>
                    <a:pt x="5942" y="2940966"/>
                    <a:pt x="0" y="2926621"/>
                    <a:pt x="0" y="2911664"/>
                  </a:cubicBezTo>
                  <a:lnTo>
                    <a:pt x="0" y="56396"/>
                  </a:lnTo>
                  <a:cubicBezTo>
                    <a:pt x="0" y="41439"/>
                    <a:pt x="5942" y="27094"/>
                    <a:pt x="16518" y="16518"/>
                  </a:cubicBezTo>
                  <a:cubicBezTo>
                    <a:pt x="27094" y="5942"/>
                    <a:pt x="41439" y="0"/>
                    <a:pt x="56396" y="0"/>
                  </a:cubicBezTo>
                  <a:close/>
                </a:path>
              </a:pathLst>
            </a:custGeom>
            <a:gradFill rotWithShape="true">
              <a:gsLst>
                <a:gs pos="0">
                  <a:srgbClr val="005380">
                    <a:alpha val="100000"/>
                  </a:srgbClr>
                </a:gs>
                <a:gs pos="100000">
                  <a:srgbClr val="8FEEFA">
                    <a:alpha val="100000"/>
                  </a:srgbClr>
                </a:gs>
              </a:gsLst>
              <a:path path="circle">
                <a:fillToRect l="0" r="100000" t="0" b="100000"/>
              </a:path>
              <a:tileRect r="0" l="-100000" b="0" t="-100000"/>
            </a:gradFill>
            <a:ln cap="rnd">
              <a:noFill/>
              <a:prstDash val="solid"/>
              <a:round/>
            </a:ln>
          </p:spPr>
        </p:sp>
        <p:sp>
          <p:nvSpPr>
            <p:cNvPr name="TextBox 14" id="14"/>
            <p:cNvSpPr txBox="true"/>
            <p:nvPr/>
          </p:nvSpPr>
          <p:spPr>
            <a:xfrm>
              <a:off x="0" y="-38100"/>
              <a:ext cx="4150097" cy="3006160"/>
            </a:xfrm>
            <a:prstGeom prst="rect">
              <a:avLst/>
            </a:prstGeom>
          </p:spPr>
          <p:txBody>
            <a:bodyPr anchor="ctr" rtlCol="false" tIns="40882" lIns="40882" bIns="40882" rIns="40882"/>
            <a:lstStyle/>
            <a:p>
              <a:pPr algn="ctr">
                <a:lnSpc>
                  <a:spcPts val="2660"/>
                </a:lnSpc>
                <a:spcBef>
                  <a:spcPct val="0"/>
                </a:spcBef>
              </a:pPr>
            </a:p>
          </p:txBody>
        </p:sp>
      </p:grpSp>
      <p:sp>
        <p:nvSpPr>
          <p:cNvPr name="TextBox 15" id="15"/>
          <p:cNvSpPr txBox="true"/>
          <p:nvPr/>
        </p:nvSpPr>
        <p:spPr>
          <a:xfrm rot="0">
            <a:off x="1028700" y="3205006"/>
            <a:ext cx="6512227" cy="531495"/>
          </a:xfrm>
          <a:prstGeom prst="rect">
            <a:avLst/>
          </a:prstGeom>
        </p:spPr>
        <p:txBody>
          <a:bodyPr anchor="t" rtlCol="false" tIns="0" lIns="0" bIns="0" rIns="0">
            <a:spAutoFit/>
          </a:bodyPr>
          <a:lstStyle/>
          <a:p>
            <a:pPr algn="ctr" marL="0" indent="0" lvl="0">
              <a:lnSpc>
                <a:spcPts val="3779"/>
              </a:lnSpc>
              <a:spcBef>
                <a:spcPct val="0"/>
              </a:spcBef>
            </a:pPr>
            <a:r>
              <a:rPr lang="en-US" b="true" sz="2700">
                <a:solidFill>
                  <a:srgbClr val="005380"/>
                </a:solidFill>
                <a:latin typeface="Agrandir Bold"/>
                <a:ea typeface="Agrandir Bold"/>
                <a:cs typeface="Agrandir Bold"/>
                <a:sym typeface="Agrandir Bold"/>
              </a:rPr>
              <a:t>Data Definition Language (DDL)</a:t>
            </a:r>
          </a:p>
        </p:txBody>
      </p:sp>
      <p:sp>
        <p:nvSpPr>
          <p:cNvPr name="TextBox 16" id="16"/>
          <p:cNvSpPr txBox="true"/>
          <p:nvPr/>
        </p:nvSpPr>
        <p:spPr>
          <a:xfrm rot="0">
            <a:off x="1704147" y="3887855"/>
            <a:ext cx="6451718" cy="4402553"/>
          </a:xfrm>
          <a:prstGeom prst="rect">
            <a:avLst/>
          </a:prstGeom>
        </p:spPr>
        <p:txBody>
          <a:bodyPr anchor="t" rtlCol="false" tIns="0" lIns="0" bIns="0" rIns="0">
            <a:spAutoFit/>
          </a:bodyPr>
          <a:lstStyle/>
          <a:p>
            <a:pPr algn="l">
              <a:lnSpc>
                <a:spcPts val="3559"/>
              </a:lnSpc>
            </a:pPr>
            <a:r>
              <a:rPr lang="en-US" sz="2542">
                <a:solidFill>
                  <a:srgbClr val="FFFFFF"/>
                </a:solidFill>
                <a:latin typeface="Agrandir"/>
                <a:ea typeface="Agrandir"/>
                <a:cs typeface="Agrandir"/>
                <a:sym typeface="Agrandir"/>
              </a:rPr>
              <a:t>DDL digunakan untuk membangun struktur database, meliputi:</a:t>
            </a:r>
          </a:p>
          <a:p>
            <a:pPr algn="l" marL="548884" indent="-274442" lvl="1">
              <a:lnSpc>
                <a:spcPts val="3559"/>
              </a:lnSpc>
              <a:buFont typeface="Arial"/>
              <a:buChar char="•"/>
            </a:pPr>
            <a:r>
              <a:rPr lang="en-US" sz="2542">
                <a:solidFill>
                  <a:srgbClr val="FFFFFF"/>
                </a:solidFill>
                <a:latin typeface="Agrandir"/>
                <a:ea typeface="Agrandir"/>
                <a:cs typeface="Agrandir"/>
                <a:sym typeface="Agrandir"/>
              </a:rPr>
              <a:t>Membuat database inventori_laboratorium.</a:t>
            </a:r>
          </a:p>
          <a:p>
            <a:pPr algn="just" marL="548884" indent="-274442" lvl="1">
              <a:lnSpc>
                <a:spcPts val="3559"/>
              </a:lnSpc>
              <a:buFont typeface="Arial"/>
              <a:buChar char="•"/>
            </a:pPr>
            <a:r>
              <a:rPr lang="en-US" sz="2542">
                <a:solidFill>
                  <a:srgbClr val="FFFFFF"/>
                </a:solidFill>
                <a:latin typeface="Agrandir"/>
                <a:ea typeface="Agrandir"/>
                <a:cs typeface="Agrandir"/>
                <a:sym typeface="Agrandir"/>
              </a:rPr>
              <a:t>Membuat 10 tabel utama.</a:t>
            </a:r>
          </a:p>
          <a:p>
            <a:pPr algn="just" marL="548884" indent="-274442" lvl="1">
              <a:lnSpc>
                <a:spcPts val="3559"/>
              </a:lnSpc>
              <a:buFont typeface="Arial"/>
              <a:buChar char="•"/>
            </a:pPr>
            <a:r>
              <a:rPr lang="en-US" sz="2542">
                <a:solidFill>
                  <a:srgbClr val="FFFFFF"/>
                </a:solidFill>
                <a:latin typeface="Agrandir"/>
                <a:ea typeface="Agrandir"/>
                <a:cs typeface="Agrandir"/>
                <a:sym typeface="Agrandir"/>
              </a:rPr>
              <a:t>Menentukan Primary Key dan Foreign Key.</a:t>
            </a:r>
          </a:p>
          <a:p>
            <a:pPr algn="just" marL="548884" indent="-274442" lvl="1">
              <a:lnSpc>
                <a:spcPts val="3559"/>
              </a:lnSpc>
              <a:buFont typeface="Arial"/>
              <a:buChar char="•"/>
            </a:pPr>
            <a:r>
              <a:rPr lang="en-US" sz="2542">
                <a:solidFill>
                  <a:srgbClr val="FFFFFF"/>
                </a:solidFill>
                <a:latin typeface="Agrandir"/>
                <a:ea typeface="Agrandir"/>
                <a:cs typeface="Agrandir"/>
                <a:sym typeface="Agrandir"/>
              </a:rPr>
              <a:t>Membentuk relasi antar tabel sesuai dengan ERD.</a:t>
            </a:r>
          </a:p>
          <a:p>
            <a:pPr algn="just">
              <a:lnSpc>
                <a:spcPts val="2520"/>
              </a:lnSpc>
            </a:pPr>
          </a:p>
        </p:txBody>
      </p:sp>
      <p:grpSp>
        <p:nvGrpSpPr>
          <p:cNvPr name="Group 17" id="17"/>
          <p:cNvGrpSpPr/>
          <p:nvPr/>
        </p:nvGrpSpPr>
        <p:grpSpPr>
          <a:xfrm rot="0">
            <a:off x="9144000" y="3492001"/>
            <a:ext cx="7001121" cy="5007052"/>
            <a:chOff x="0" y="0"/>
            <a:chExt cx="4150097" cy="2968060"/>
          </a:xfrm>
        </p:grpSpPr>
        <p:sp>
          <p:nvSpPr>
            <p:cNvPr name="Freeform 18" id="18"/>
            <p:cNvSpPr/>
            <p:nvPr/>
          </p:nvSpPr>
          <p:spPr>
            <a:xfrm flipH="false" flipV="false" rot="0">
              <a:off x="0" y="0"/>
              <a:ext cx="4150097" cy="2968060"/>
            </a:xfrm>
            <a:custGeom>
              <a:avLst/>
              <a:gdLst/>
              <a:ahLst/>
              <a:cxnLst/>
              <a:rect r="r" b="b" t="t" l="l"/>
              <a:pathLst>
                <a:path h="2968060" w="4150097">
                  <a:moveTo>
                    <a:pt x="56396" y="0"/>
                  </a:moveTo>
                  <a:lnTo>
                    <a:pt x="4093700" y="0"/>
                  </a:lnTo>
                  <a:cubicBezTo>
                    <a:pt x="4108658" y="0"/>
                    <a:pt x="4123002" y="5942"/>
                    <a:pt x="4133579" y="16518"/>
                  </a:cubicBezTo>
                  <a:cubicBezTo>
                    <a:pt x="4144155" y="27094"/>
                    <a:pt x="4150097" y="41439"/>
                    <a:pt x="4150097" y="56396"/>
                  </a:cubicBezTo>
                  <a:lnTo>
                    <a:pt x="4150097" y="2911664"/>
                  </a:lnTo>
                  <a:cubicBezTo>
                    <a:pt x="4150097" y="2926621"/>
                    <a:pt x="4144155" y="2940966"/>
                    <a:pt x="4133579" y="2951542"/>
                  </a:cubicBezTo>
                  <a:cubicBezTo>
                    <a:pt x="4123002" y="2962118"/>
                    <a:pt x="4108658" y="2968060"/>
                    <a:pt x="4093700" y="2968060"/>
                  </a:cubicBezTo>
                  <a:lnTo>
                    <a:pt x="56396" y="2968060"/>
                  </a:lnTo>
                  <a:cubicBezTo>
                    <a:pt x="41439" y="2968060"/>
                    <a:pt x="27094" y="2962118"/>
                    <a:pt x="16518" y="2951542"/>
                  </a:cubicBezTo>
                  <a:cubicBezTo>
                    <a:pt x="5942" y="2940966"/>
                    <a:pt x="0" y="2926621"/>
                    <a:pt x="0" y="2911664"/>
                  </a:cubicBezTo>
                  <a:lnTo>
                    <a:pt x="0" y="56396"/>
                  </a:lnTo>
                  <a:cubicBezTo>
                    <a:pt x="0" y="41439"/>
                    <a:pt x="5942" y="27094"/>
                    <a:pt x="16518" y="16518"/>
                  </a:cubicBezTo>
                  <a:cubicBezTo>
                    <a:pt x="27094" y="5942"/>
                    <a:pt x="41439" y="0"/>
                    <a:pt x="56396" y="0"/>
                  </a:cubicBezTo>
                  <a:close/>
                </a:path>
              </a:pathLst>
            </a:custGeom>
            <a:gradFill rotWithShape="true">
              <a:gsLst>
                <a:gs pos="0">
                  <a:srgbClr val="005380">
                    <a:alpha val="100000"/>
                  </a:srgbClr>
                </a:gs>
                <a:gs pos="100000">
                  <a:srgbClr val="8FEEFA">
                    <a:alpha val="100000"/>
                  </a:srgbClr>
                </a:gs>
              </a:gsLst>
              <a:path path="circle">
                <a:fillToRect l="0" r="100000" t="0" b="100000"/>
              </a:path>
              <a:tileRect r="0" l="-100000" b="0" t="-100000"/>
            </a:gradFill>
            <a:ln cap="rnd">
              <a:noFill/>
              <a:prstDash val="solid"/>
              <a:round/>
            </a:ln>
          </p:spPr>
        </p:sp>
        <p:sp>
          <p:nvSpPr>
            <p:cNvPr name="TextBox 19" id="19"/>
            <p:cNvSpPr txBox="true"/>
            <p:nvPr/>
          </p:nvSpPr>
          <p:spPr>
            <a:xfrm>
              <a:off x="0" y="-38100"/>
              <a:ext cx="4150097" cy="3006160"/>
            </a:xfrm>
            <a:prstGeom prst="rect">
              <a:avLst/>
            </a:prstGeom>
          </p:spPr>
          <p:txBody>
            <a:bodyPr anchor="ctr" rtlCol="false" tIns="40882" lIns="40882" bIns="40882" rIns="40882"/>
            <a:lstStyle/>
            <a:p>
              <a:pPr algn="ctr">
                <a:lnSpc>
                  <a:spcPts val="2660"/>
                </a:lnSpc>
                <a:spcBef>
                  <a:spcPct val="0"/>
                </a:spcBef>
              </a:pPr>
            </a:p>
          </p:txBody>
        </p:sp>
      </p:grpSp>
      <p:sp>
        <p:nvSpPr>
          <p:cNvPr name="TextBox 20" id="20"/>
          <p:cNvSpPr txBox="true"/>
          <p:nvPr/>
        </p:nvSpPr>
        <p:spPr>
          <a:xfrm rot="0">
            <a:off x="9513604" y="3887855"/>
            <a:ext cx="6261914" cy="4793175"/>
          </a:xfrm>
          <a:prstGeom prst="rect">
            <a:avLst/>
          </a:prstGeom>
        </p:spPr>
        <p:txBody>
          <a:bodyPr anchor="t" rtlCol="false" tIns="0" lIns="0" bIns="0" rIns="0">
            <a:spAutoFit/>
          </a:bodyPr>
          <a:lstStyle/>
          <a:p>
            <a:pPr algn="just">
              <a:lnSpc>
                <a:spcPts val="3426"/>
              </a:lnSpc>
            </a:pPr>
            <a:r>
              <a:rPr lang="en-US" sz="2447">
                <a:solidFill>
                  <a:srgbClr val="FFFFFF"/>
                </a:solidFill>
                <a:latin typeface="Agrandir"/>
                <a:ea typeface="Agrandir"/>
                <a:cs typeface="Agrandir"/>
                <a:sym typeface="Agrandir"/>
              </a:rPr>
              <a:t>DML digunakan untuk mengelola data dalam database, meliputi:</a:t>
            </a:r>
          </a:p>
          <a:p>
            <a:pPr algn="just" marL="528444" indent="-264222" lvl="1">
              <a:lnSpc>
                <a:spcPts val="3426"/>
              </a:lnSpc>
              <a:buFont typeface="Arial"/>
              <a:buChar char="•"/>
            </a:pPr>
            <a:r>
              <a:rPr lang="en-US" sz="2447">
                <a:solidFill>
                  <a:srgbClr val="FFFFFF"/>
                </a:solidFill>
                <a:latin typeface="Agrandir"/>
                <a:ea typeface="Agrandir"/>
                <a:cs typeface="Agrandir"/>
                <a:sym typeface="Agrandir"/>
              </a:rPr>
              <a:t>INSERT → Menambahkan data ke dalam tabel.</a:t>
            </a:r>
          </a:p>
          <a:p>
            <a:pPr algn="just" marL="528444" indent="-264222" lvl="1">
              <a:lnSpc>
                <a:spcPts val="3426"/>
              </a:lnSpc>
              <a:buFont typeface="Arial"/>
              <a:buChar char="•"/>
            </a:pPr>
            <a:r>
              <a:rPr lang="en-US" sz="2447">
                <a:solidFill>
                  <a:srgbClr val="FFFFFF"/>
                </a:solidFill>
                <a:latin typeface="Agrandir"/>
                <a:ea typeface="Agrandir"/>
                <a:cs typeface="Agrandir"/>
                <a:sym typeface="Agrandir"/>
              </a:rPr>
              <a:t>UPDATE → Memperbarui data yang sudah ada.</a:t>
            </a:r>
          </a:p>
          <a:p>
            <a:pPr algn="just" marL="528444" indent="-264222" lvl="1">
              <a:lnSpc>
                <a:spcPts val="3426"/>
              </a:lnSpc>
              <a:buFont typeface="Arial"/>
              <a:buChar char="•"/>
            </a:pPr>
            <a:r>
              <a:rPr lang="en-US" sz="2447">
                <a:solidFill>
                  <a:srgbClr val="FFFFFF"/>
                </a:solidFill>
                <a:latin typeface="Agrandir"/>
                <a:ea typeface="Agrandir"/>
                <a:cs typeface="Agrandir"/>
                <a:sym typeface="Agrandir"/>
              </a:rPr>
              <a:t>DELETE → Menghapus data yang tidak diperlukan.</a:t>
            </a:r>
          </a:p>
          <a:p>
            <a:pPr algn="just" marL="528444" indent="-264222" lvl="1">
              <a:lnSpc>
                <a:spcPts val="3426"/>
              </a:lnSpc>
              <a:buFont typeface="Arial"/>
              <a:buChar char="•"/>
            </a:pPr>
            <a:r>
              <a:rPr lang="en-US" sz="2447">
                <a:solidFill>
                  <a:srgbClr val="FFFFFF"/>
                </a:solidFill>
                <a:latin typeface="Agrandir"/>
                <a:ea typeface="Agrandir"/>
                <a:cs typeface="Agrandir"/>
                <a:sym typeface="Agrandir"/>
              </a:rPr>
              <a:t>SELECT → Menampilkan atau mengambil data dari database.</a:t>
            </a:r>
          </a:p>
          <a:p>
            <a:pPr algn="just" marL="0" indent="0" lvl="1">
              <a:lnSpc>
                <a:spcPts val="3426"/>
              </a:lnSpc>
              <a:spcBef>
                <a:spcPct val="0"/>
              </a:spcBef>
            </a:pPr>
          </a:p>
        </p:txBody>
      </p:sp>
      <p:sp>
        <p:nvSpPr>
          <p:cNvPr name="TextBox 21" id="21"/>
          <p:cNvSpPr txBox="true"/>
          <p:nvPr/>
        </p:nvSpPr>
        <p:spPr>
          <a:xfrm rot="0">
            <a:off x="8915895" y="3205006"/>
            <a:ext cx="6859622" cy="1483995"/>
          </a:xfrm>
          <a:prstGeom prst="rect">
            <a:avLst/>
          </a:prstGeom>
        </p:spPr>
        <p:txBody>
          <a:bodyPr anchor="t" rtlCol="false" tIns="0" lIns="0" bIns="0" rIns="0">
            <a:spAutoFit/>
          </a:bodyPr>
          <a:lstStyle/>
          <a:p>
            <a:pPr algn="ctr">
              <a:lnSpc>
                <a:spcPts val="3779"/>
              </a:lnSpc>
            </a:pPr>
            <a:r>
              <a:rPr lang="en-US" sz="2700" b="true">
                <a:solidFill>
                  <a:srgbClr val="005380"/>
                </a:solidFill>
                <a:latin typeface="Agrandir Bold"/>
                <a:ea typeface="Agrandir Bold"/>
                <a:cs typeface="Agrandir Bold"/>
                <a:sym typeface="Agrandir Bold"/>
              </a:rPr>
              <a:t>Data Manipulation Language (DML)</a:t>
            </a:r>
          </a:p>
          <a:p>
            <a:pPr algn="ctr">
              <a:lnSpc>
                <a:spcPts val="3779"/>
              </a:lnSpc>
            </a:pPr>
          </a:p>
          <a:p>
            <a:pPr algn="ctr" marL="0" indent="0" lvl="0">
              <a:lnSpc>
                <a:spcPts val="3779"/>
              </a:lnSpc>
              <a:spcBef>
                <a:spcPct val="0"/>
              </a:spcBef>
            </a:pPr>
          </a:p>
        </p:txBody>
      </p:sp>
      <p:sp>
        <p:nvSpPr>
          <p:cNvPr name="TextBox 22" id="22"/>
          <p:cNvSpPr txBox="true"/>
          <p:nvPr/>
        </p:nvSpPr>
        <p:spPr>
          <a:xfrm rot="0">
            <a:off x="2102093" y="1584880"/>
            <a:ext cx="4426958" cy="1275884"/>
          </a:xfrm>
          <a:prstGeom prst="rect">
            <a:avLst/>
          </a:prstGeom>
        </p:spPr>
        <p:txBody>
          <a:bodyPr anchor="t" rtlCol="false" tIns="0" lIns="0" bIns="0" rIns="0">
            <a:spAutoFit/>
          </a:bodyPr>
          <a:lstStyle/>
          <a:p>
            <a:pPr algn="l">
              <a:lnSpc>
                <a:spcPts val="4539"/>
              </a:lnSpc>
            </a:pPr>
            <a:r>
              <a:rPr lang="en-US" b="true" sz="3982">
                <a:solidFill>
                  <a:srgbClr val="005380"/>
                </a:solidFill>
                <a:latin typeface="Agrandir Bold"/>
                <a:ea typeface="Agrandir Bold"/>
                <a:cs typeface="Agrandir Bold"/>
                <a:sym typeface="Agrandir Bold"/>
              </a:rPr>
              <a:t>IMPLEMENTASI (DDL &amp; DML)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070322" y="7313188"/>
            <a:ext cx="5012156" cy="5012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8" id="8"/>
          <p:cNvGrpSpPr/>
          <p:nvPr/>
        </p:nvGrpSpPr>
        <p:grpSpPr>
          <a:xfrm rot="0">
            <a:off x="16233274" y="-2976237"/>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11" id="11"/>
          <p:cNvSpPr txBox="true"/>
          <p:nvPr/>
        </p:nvSpPr>
        <p:spPr>
          <a:xfrm rot="0">
            <a:off x="1941835" y="1864236"/>
            <a:ext cx="8637236" cy="863445"/>
          </a:xfrm>
          <a:prstGeom prst="rect">
            <a:avLst/>
          </a:prstGeom>
        </p:spPr>
        <p:txBody>
          <a:bodyPr anchor="t" rtlCol="false" tIns="0" lIns="0" bIns="0" rIns="0">
            <a:spAutoFit/>
          </a:bodyPr>
          <a:lstStyle/>
          <a:p>
            <a:pPr algn="l">
              <a:lnSpc>
                <a:spcPts val="5616"/>
              </a:lnSpc>
            </a:pPr>
            <a:r>
              <a:rPr lang="en-US" b="true" sz="4927">
                <a:solidFill>
                  <a:srgbClr val="005380"/>
                </a:solidFill>
                <a:latin typeface="Agrandir Bold"/>
                <a:ea typeface="Agrandir Bold"/>
                <a:cs typeface="Agrandir Bold"/>
                <a:sym typeface="Agrandir Bold"/>
              </a:rPr>
              <a:t>PENGUJIAN QUERY SQL</a:t>
            </a:r>
          </a:p>
        </p:txBody>
      </p:sp>
      <p:sp>
        <p:nvSpPr>
          <p:cNvPr name="TextBox 12" id="12"/>
          <p:cNvSpPr txBox="true"/>
          <p:nvPr/>
        </p:nvSpPr>
        <p:spPr>
          <a:xfrm rot="0">
            <a:off x="1941835" y="2753117"/>
            <a:ext cx="12468481" cy="1253960"/>
          </a:xfrm>
          <a:prstGeom prst="rect">
            <a:avLst/>
          </a:prstGeom>
        </p:spPr>
        <p:txBody>
          <a:bodyPr anchor="t" rtlCol="false" tIns="0" lIns="0" bIns="0" rIns="0">
            <a:spAutoFit/>
          </a:bodyPr>
          <a:lstStyle/>
          <a:p>
            <a:pPr algn="just" marL="0" indent="0" lvl="0">
              <a:lnSpc>
                <a:spcPts val="3147"/>
              </a:lnSpc>
              <a:spcBef>
                <a:spcPct val="0"/>
              </a:spcBef>
            </a:pPr>
            <a:r>
              <a:rPr lang="en-US" sz="2248">
                <a:solidFill>
                  <a:srgbClr val="005380"/>
                </a:solidFill>
                <a:latin typeface="Agrandir"/>
                <a:ea typeface="Agrandir"/>
                <a:cs typeface="Agrandir"/>
                <a:sym typeface="Agrandir"/>
              </a:rPr>
              <a:t>Memastikan bahwa database yang telah dibuat dapat berfungsi dengan baik dalam mengelola data inventaris laboratorium, mulai dari penyimpanan, pencarian, pembaruan, hingga penghapusan data.</a:t>
            </a:r>
          </a:p>
        </p:txBody>
      </p:sp>
      <p:sp>
        <p:nvSpPr>
          <p:cNvPr name="Freeform 13" id="13"/>
          <p:cNvSpPr/>
          <p:nvPr/>
        </p:nvSpPr>
        <p:spPr>
          <a:xfrm flipH="false" flipV="false" rot="10733209">
            <a:off x="366072" y="1686845"/>
            <a:ext cx="1325257" cy="1332525"/>
          </a:xfrm>
          <a:custGeom>
            <a:avLst/>
            <a:gdLst/>
            <a:ahLst/>
            <a:cxnLst/>
            <a:rect r="r" b="b" t="t" l="l"/>
            <a:pathLst>
              <a:path h="1332525" w="1325257">
                <a:moveTo>
                  <a:pt x="0" y="0"/>
                </a:moveTo>
                <a:lnTo>
                  <a:pt x="1325256" y="0"/>
                </a:lnTo>
                <a:lnTo>
                  <a:pt x="1325256" y="1332526"/>
                </a:lnTo>
                <a:lnTo>
                  <a:pt x="0" y="1332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941835" y="4302352"/>
            <a:ext cx="11660400" cy="3715598"/>
          </a:xfrm>
          <a:prstGeom prst="rect">
            <a:avLst/>
          </a:prstGeom>
        </p:spPr>
        <p:txBody>
          <a:bodyPr anchor="t" rtlCol="false" tIns="0" lIns="0" bIns="0" rIns="0">
            <a:spAutoFit/>
          </a:bodyPr>
          <a:lstStyle/>
          <a:p>
            <a:pPr algn="l" marL="559530" indent="-279765" lvl="1">
              <a:lnSpc>
                <a:spcPts val="3628"/>
              </a:lnSpc>
              <a:buFont typeface="Arial"/>
              <a:buChar char="•"/>
            </a:pPr>
            <a:r>
              <a:rPr lang="en-US" sz="2591">
                <a:solidFill>
                  <a:srgbClr val="005380"/>
                </a:solidFill>
                <a:latin typeface="Agrandir"/>
                <a:ea typeface="Agrandir"/>
                <a:cs typeface="Agrandir"/>
                <a:sym typeface="Agrandir"/>
              </a:rPr>
              <a:t>SHOW TABLES → Menampilkan seluruh tabel dalam database.</a:t>
            </a:r>
          </a:p>
          <a:p>
            <a:pPr algn="l" marL="559530" indent="-279765" lvl="1">
              <a:lnSpc>
                <a:spcPts val="3628"/>
              </a:lnSpc>
              <a:buFont typeface="Arial"/>
              <a:buChar char="•"/>
            </a:pPr>
            <a:r>
              <a:rPr lang="en-US" sz="2591">
                <a:solidFill>
                  <a:srgbClr val="005380"/>
                </a:solidFill>
                <a:latin typeface="Agrandir"/>
                <a:ea typeface="Agrandir"/>
                <a:cs typeface="Agrandir"/>
                <a:sym typeface="Agrandir"/>
              </a:rPr>
              <a:t>DESC → Menampilkan struktur tabel.</a:t>
            </a:r>
          </a:p>
          <a:p>
            <a:pPr algn="l" marL="559530" indent="-279765" lvl="1">
              <a:lnSpc>
                <a:spcPts val="3628"/>
              </a:lnSpc>
              <a:buFont typeface="Arial"/>
              <a:buChar char="•"/>
            </a:pPr>
            <a:r>
              <a:rPr lang="en-US" sz="2591">
                <a:solidFill>
                  <a:srgbClr val="005380"/>
                </a:solidFill>
                <a:latin typeface="Agrandir"/>
                <a:ea typeface="Agrandir"/>
                <a:cs typeface="Agrandir"/>
                <a:sym typeface="Agrandir"/>
              </a:rPr>
              <a:t>SELECT → Menampilkan data pada tabel.</a:t>
            </a:r>
          </a:p>
          <a:p>
            <a:pPr algn="l" marL="559530" indent="-279765" lvl="1">
              <a:lnSpc>
                <a:spcPts val="3628"/>
              </a:lnSpc>
              <a:buFont typeface="Arial"/>
              <a:buChar char="•"/>
            </a:pPr>
            <a:r>
              <a:rPr lang="en-US" sz="2591">
                <a:solidFill>
                  <a:srgbClr val="005380"/>
                </a:solidFill>
                <a:latin typeface="Agrandir"/>
                <a:ea typeface="Agrandir"/>
                <a:cs typeface="Agrandir"/>
                <a:sym typeface="Agrandir"/>
              </a:rPr>
              <a:t>JOIN → Menggabungkan data dari beberapa tabel yang saling berelasi.</a:t>
            </a:r>
          </a:p>
          <a:p>
            <a:pPr algn="l" marL="559530" indent="-279765" lvl="1">
              <a:lnSpc>
                <a:spcPts val="3628"/>
              </a:lnSpc>
              <a:buFont typeface="Arial"/>
              <a:buChar char="•"/>
            </a:pPr>
            <a:r>
              <a:rPr lang="en-US" sz="2591">
                <a:solidFill>
                  <a:srgbClr val="005380"/>
                </a:solidFill>
                <a:latin typeface="Agrandir"/>
                <a:ea typeface="Agrandir"/>
                <a:cs typeface="Agrandir"/>
                <a:sym typeface="Agrandir"/>
              </a:rPr>
              <a:t>GROUP BY → Mengelompokkan data berdasarkan kategori tertentu.</a:t>
            </a:r>
          </a:p>
          <a:p>
            <a:pPr algn="l" marL="559530" indent="-279765" lvl="1">
              <a:lnSpc>
                <a:spcPts val="3628"/>
              </a:lnSpc>
              <a:buFont typeface="Arial"/>
              <a:buChar char="•"/>
            </a:pPr>
            <a:r>
              <a:rPr lang="en-US" sz="2591">
                <a:solidFill>
                  <a:srgbClr val="005380"/>
                </a:solidFill>
                <a:latin typeface="Agrandir"/>
                <a:ea typeface="Agrandir"/>
                <a:cs typeface="Agrandir"/>
                <a:sym typeface="Agrandir"/>
              </a:rPr>
              <a:t>UPDATE → Memperbarui data.</a:t>
            </a:r>
          </a:p>
          <a:p>
            <a:pPr algn="l" marL="559530" indent="-279765" lvl="1">
              <a:lnSpc>
                <a:spcPts val="3628"/>
              </a:lnSpc>
              <a:buFont typeface="Arial"/>
              <a:buChar char="•"/>
            </a:pPr>
            <a:r>
              <a:rPr lang="en-US" sz="2591">
                <a:solidFill>
                  <a:srgbClr val="005380"/>
                </a:solidFill>
                <a:latin typeface="Agrandir"/>
                <a:ea typeface="Agrandir"/>
                <a:cs typeface="Agrandir"/>
                <a:sym typeface="Agrandir"/>
              </a:rPr>
              <a:t>DELETE → Menghapus data</a:t>
            </a:r>
          </a:p>
          <a:p>
            <a:pPr algn="l">
              <a:lnSpc>
                <a:spcPts val="3628"/>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070322" y="7313188"/>
            <a:ext cx="5012156" cy="5012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8" id="8"/>
          <p:cNvGrpSpPr/>
          <p:nvPr/>
        </p:nvGrpSpPr>
        <p:grpSpPr>
          <a:xfrm rot="0">
            <a:off x="16233274" y="-2976237"/>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11" id="11"/>
          <p:cNvSpPr txBox="true"/>
          <p:nvPr/>
        </p:nvSpPr>
        <p:spPr>
          <a:xfrm rot="0">
            <a:off x="2498640" y="2449503"/>
            <a:ext cx="6084226" cy="1194763"/>
          </a:xfrm>
          <a:prstGeom prst="rect">
            <a:avLst/>
          </a:prstGeom>
        </p:spPr>
        <p:txBody>
          <a:bodyPr anchor="t" rtlCol="false" tIns="0" lIns="0" bIns="0" rIns="0">
            <a:spAutoFit/>
          </a:bodyPr>
          <a:lstStyle/>
          <a:p>
            <a:pPr algn="l">
              <a:lnSpc>
                <a:spcPts val="7744"/>
              </a:lnSpc>
            </a:pPr>
            <a:r>
              <a:rPr lang="en-US" b="true" sz="6792">
                <a:solidFill>
                  <a:srgbClr val="005380"/>
                </a:solidFill>
                <a:latin typeface="Agrandir Bold"/>
                <a:ea typeface="Agrandir Bold"/>
                <a:cs typeface="Agrandir Bold"/>
                <a:sym typeface="Agrandir Bold"/>
              </a:rPr>
              <a:t>KESIMPULAN</a:t>
            </a:r>
          </a:p>
        </p:txBody>
      </p:sp>
      <p:sp>
        <p:nvSpPr>
          <p:cNvPr name="TextBox 12" id="12"/>
          <p:cNvSpPr txBox="true"/>
          <p:nvPr/>
        </p:nvSpPr>
        <p:spPr>
          <a:xfrm rot="0">
            <a:off x="2379594" y="3732869"/>
            <a:ext cx="13632942" cy="5770647"/>
          </a:xfrm>
          <a:prstGeom prst="rect">
            <a:avLst/>
          </a:prstGeom>
        </p:spPr>
        <p:txBody>
          <a:bodyPr anchor="t" rtlCol="false" tIns="0" lIns="0" bIns="0" rIns="0">
            <a:spAutoFit/>
          </a:bodyPr>
          <a:lstStyle/>
          <a:p>
            <a:pPr algn="just">
              <a:lnSpc>
                <a:spcPts val="3757"/>
              </a:lnSpc>
            </a:pPr>
            <a:r>
              <a:rPr lang="en-US" sz="2684">
                <a:solidFill>
                  <a:srgbClr val="005380"/>
                </a:solidFill>
                <a:latin typeface="Agrandir"/>
                <a:ea typeface="Agrandir"/>
                <a:cs typeface="Agrandir"/>
                <a:sym typeface="Agrandir"/>
              </a:rPr>
              <a:t>  Dapat disimpulkan bahwa Sistem Basis Data Manajemen Inventori Laboratorium berhasil dirancang dan diimplementasikan menggunakan MariaDB/MySQL. Melalui proses normalisasi hingga bentuk 3NF, database menjadi lebih terstruktur, mengurangi duplikasi data, dan meningkatkan konsistensi penyimpanan. Selain itu, implementasi DDL dan DML serta hasil pengujian query SQL menunjukkan bahwa seluruh fungsi database berjalan dengan baik. Dengan demikian, sistem ini mampu membantu pengelolaan inventaris laboratorium secara lebih efektif, efisien, dan akurat.</a:t>
            </a:r>
          </a:p>
          <a:p>
            <a:pPr algn="just">
              <a:lnSpc>
                <a:spcPts val="3757"/>
              </a:lnSpc>
            </a:pPr>
          </a:p>
          <a:p>
            <a:pPr algn="just">
              <a:lnSpc>
                <a:spcPts val="3757"/>
              </a:lnSpc>
            </a:pPr>
          </a:p>
          <a:p>
            <a:pPr algn="just">
              <a:lnSpc>
                <a:spcPts val="3757"/>
              </a:lnSpc>
            </a:pPr>
          </a:p>
          <a:p>
            <a:pPr algn="just" marL="0" indent="0" lvl="0">
              <a:lnSpc>
                <a:spcPts val="3757"/>
              </a:lnSpc>
              <a:spcBef>
                <a:spcPct val="0"/>
              </a:spcBef>
            </a:pPr>
          </a:p>
        </p:txBody>
      </p:sp>
      <p:sp>
        <p:nvSpPr>
          <p:cNvPr name="Freeform 13" id="13"/>
          <p:cNvSpPr/>
          <p:nvPr/>
        </p:nvSpPr>
        <p:spPr>
          <a:xfrm flipH="false" flipV="false" rot="10733209">
            <a:off x="1041519" y="2433009"/>
            <a:ext cx="1325257" cy="1332525"/>
          </a:xfrm>
          <a:custGeom>
            <a:avLst/>
            <a:gdLst/>
            <a:ahLst/>
            <a:cxnLst/>
            <a:rect r="r" b="b" t="t" l="l"/>
            <a:pathLst>
              <a:path h="1332525" w="1325257">
                <a:moveTo>
                  <a:pt x="0" y="0"/>
                </a:moveTo>
                <a:lnTo>
                  <a:pt x="1325257" y="0"/>
                </a:lnTo>
                <a:lnTo>
                  <a:pt x="1325257" y="1332525"/>
                </a:lnTo>
                <a:lnTo>
                  <a:pt x="0" y="1332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4244" y="7735814"/>
            <a:ext cx="19781490" cy="2976343"/>
          </a:xfrm>
          <a:custGeom>
            <a:avLst/>
            <a:gdLst/>
            <a:ahLst/>
            <a:cxnLst/>
            <a:rect r="r" b="b" t="t" l="l"/>
            <a:pathLst>
              <a:path h="2976343" w="19781490">
                <a:moveTo>
                  <a:pt x="0" y="0"/>
                </a:moveTo>
                <a:lnTo>
                  <a:pt x="19781490" y="0"/>
                </a:lnTo>
                <a:lnTo>
                  <a:pt x="19781490" y="2976344"/>
                </a:lnTo>
                <a:lnTo>
                  <a:pt x="0" y="29763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6661" y="-1562423"/>
            <a:ext cx="13749320" cy="3124845"/>
          </a:xfrm>
          <a:custGeom>
            <a:avLst/>
            <a:gdLst/>
            <a:ahLst/>
            <a:cxnLst/>
            <a:rect r="r" b="b" t="t" l="l"/>
            <a:pathLst>
              <a:path h="3124845" w="13749320">
                <a:moveTo>
                  <a:pt x="0" y="0"/>
                </a:moveTo>
                <a:lnTo>
                  <a:pt x="13749320" y="0"/>
                </a:lnTo>
                <a:lnTo>
                  <a:pt x="13749320" y="3124846"/>
                </a:lnTo>
                <a:lnTo>
                  <a:pt x="0" y="3124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3070322" y="7313188"/>
            <a:ext cx="5012156" cy="501215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7" id="7"/>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grpSp>
        <p:nvGrpSpPr>
          <p:cNvPr name="Group 8" id="8"/>
          <p:cNvGrpSpPr/>
          <p:nvPr/>
        </p:nvGrpSpPr>
        <p:grpSpPr>
          <a:xfrm rot="0">
            <a:off x="16233274" y="-2976237"/>
            <a:ext cx="5012156" cy="501215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23875" cap="sq">
              <a:gradFill>
                <a:gsLst>
                  <a:gs pos="0">
                    <a:srgbClr val="005380">
                      <a:alpha val="100000"/>
                    </a:srgbClr>
                  </a:gs>
                  <a:gs pos="100000">
                    <a:srgbClr val="8FEEFA">
                      <a:alpha val="100000"/>
                    </a:srgbClr>
                  </a:gs>
                </a:gsLst>
                <a:path path="circle">
                  <a:fillToRect l="0" r="100000" t="0" b="100000"/>
                </a:path>
                <a:tileRect r="0" l="-100000" b="0" t="-100000"/>
              </a:gradFill>
              <a:prstDash val="solid"/>
              <a:miter/>
            </a:ln>
          </p:spPr>
        </p:sp>
        <p:sp>
          <p:nvSpPr>
            <p:cNvPr name="TextBox 10" id="10"/>
            <p:cNvSpPr txBox="true"/>
            <p:nvPr/>
          </p:nvSpPr>
          <p:spPr>
            <a:xfrm>
              <a:off x="76200" y="-47625"/>
              <a:ext cx="660400" cy="784225"/>
            </a:xfrm>
            <a:prstGeom prst="rect">
              <a:avLst/>
            </a:prstGeom>
          </p:spPr>
          <p:txBody>
            <a:bodyPr anchor="ctr" rtlCol="false" tIns="50800" lIns="50800" bIns="50800" rIns="50800"/>
            <a:lstStyle/>
            <a:p>
              <a:pPr algn="ctr">
                <a:lnSpc>
                  <a:spcPts val="3628"/>
                </a:lnSpc>
              </a:pPr>
            </a:p>
          </p:txBody>
        </p:sp>
      </p:grpSp>
      <p:sp>
        <p:nvSpPr>
          <p:cNvPr name="TextBox 11" id="11"/>
          <p:cNvSpPr txBox="true"/>
          <p:nvPr/>
        </p:nvSpPr>
        <p:spPr>
          <a:xfrm rot="0">
            <a:off x="2266874" y="3440162"/>
            <a:ext cx="13754251" cy="4001558"/>
          </a:xfrm>
          <a:prstGeom prst="rect">
            <a:avLst/>
          </a:prstGeom>
        </p:spPr>
        <p:txBody>
          <a:bodyPr anchor="t" rtlCol="false" tIns="0" lIns="0" bIns="0" rIns="0">
            <a:spAutoFit/>
          </a:bodyPr>
          <a:lstStyle/>
          <a:p>
            <a:pPr algn="ctr">
              <a:lnSpc>
                <a:spcPts val="13379"/>
              </a:lnSpc>
            </a:pPr>
            <a:r>
              <a:rPr lang="en-US" b="true" sz="15740">
                <a:solidFill>
                  <a:srgbClr val="005380"/>
                </a:solidFill>
                <a:latin typeface="Agrandir Heavy"/>
                <a:ea typeface="Agrandir Heavy"/>
                <a:cs typeface="Agrandir Heavy"/>
                <a:sym typeface="Agrandir Heavy"/>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DAHNqwkYsnA</dc:identifier>
  <dcterms:modified xsi:type="dcterms:W3CDTF">2011-08-01T06:04:30Z</dcterms:modified>
  <cp:revision>1</cp:revision>
  <dc:title>PERANCANGAN DAN IMPLEMENTASI SISTEM BASIS DATA MANAJEMEN INVENTORI LABORATORIUM</dc:title>
</cp:coreProperties>
</file>